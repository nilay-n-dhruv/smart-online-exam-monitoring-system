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9"/>
  </p:notesMasterIdLst>
  <p:handoutMasterIdLst>
    <p:handoutMasterId r:id="rId30"/>
  </p:handoutMasterIdLst>
  <p:sldIdLst>
    <p:sldId id="270" r:id="rId2"/>
    <p:sldId id="271" r:id="rId3"/>
    <p:sldId id="298" r:id="rId4"/>
    <p:sldId id="277" r:id="rId5"/>
    <p:sldId id="278" r:id="rId6"/>
    <p:sldId id="284" r:id="rId7"/>
    <p:sldId id="279" r:id="rId8"/>
    <p:sldId id="280" r:id="rId9"/>
    <p:sldId id="285" r:id="rId10"/>
    <p:sldId id="281" r:id="rId11"/>
    <p:sldId id="286" r:id="rId12"/>
    <p:sldId id="287" r:id="rId13"/>
    <p:sldId id="282" r:id="rId14"/>
    <p:sldId id="283" r:id="rId15"/>
    <p:sldId id="288" r:id="rId16"/>
    <p:sldId id="289" r:id="rId17"/>
    <p:sldId id="290" r:id="rId18"/>
    <p:sldId id="291" r:id="rId19"/>
    <p:sldId id="292" r:id="rId20"/>
    <p:sldId id="293" r:id="rId21"/>
    <p:sldId id="294" r:id="rId22"/>
    <p:sldId id="295" r:id="rId23"/>
    <p:sldId id="297" r:id="rId24"/>
    <p:sldId id="296" r:id="rId25"/>
    <p:sldId id="276" r:id="rId26"/>
    <p:sldId id="299" r:id="rId27"/>
    <p:sldId id="275" r:id="rId28"/>
  </p:sldIdLst>
  <p:sldSz cx="9144000" cy="6858000" type="screen4x3"/>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57D91"/>
    <a:srgbClr val="4BACC6"/>
    <a:srgbClr val="A78B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2" autoAdjust="0"/>
    <p:restoredTop sz="95256" autoAdjust="0"/>
  </p:normalViewPr>
  <p:slideViewPr>
    <p:cSldViewPr snapToGrid="0">
      <p:cViewPr varScale="1">
        <p:scale>
          <a:sx n="82" d="100"/>
          <a:sy n="82" d="100"/>
        </p:scale>
        <p:origin x="1430"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ADC94A-A390-4CD7-ABF7-642619AA24CE}" type="doc">
      <dgm:prSet loTypeId="urn:microsoft.com/office/officeart/2008/layout/VerticalCurvedList" loCatId="list" qsTypeId="urn:microsoft.com/office/officeart/2005/8/quickstyle/simple1" qsCatId="simple" csTypeId="urn:microsoft.com/office/officeart/2005/8/colors/accent5_2" csCatId="accent5" phldr="1"/>
      <dgm:spPr/>
      <dgm:t>
        <a:bodyPr/>
        <a:lstStyle/>
        <a:p>
          <a:endParaRPr lang="en-US"/>
        </a:p>
      </dgm:t>
    </dgm:pt>
    <dgm:pt modelId="{ECE5FD1A-48BD-40DD-BACA-71A82401C155}">
      <dgm:prSet phldrT="[Text]"/>
      <dgm:spPr/>
      <dgm:t>
        <a:bodyPr/>
        <a:lstStyle/>
        <a:p>
          <a:r>
            <a:rPr lang="en-US" b="0" dirty="0">
              <a:latin typeface="Times New Roman" panose="02020603050405020304" pitchFamily="18" charset="0"/>
              <a:cs typeface="Times New Roman" panose="02020603050405020304" pitchFamily="18" charset="0"/>
            </a:rPr>
            <a:t>Name: Nilay Narendra Bhai Dhruv</a:t>
          </a:r>
        </a:p>
      </dgm:t>
    </dgm:pt>
    <dgm:pt modelId="{AE3E35B7-7150-499E-AE72-141939A057DC}" type="parTrans" cxnId="{FFBE5E2E-EC2C-4608-9488-7E1C621A7896}">
      <dgm:prSet/>
      <dgm:spPr/>
      <dgm:t>
        <a:bodyPr/>
        <a:lstStyle/>
        <a:p>
          <a:endParaRPr lang="en-US"/>
        </a:p>
      </dgm:t>
    </dgm:pt>
    <dgm:pt modelId="{C3A43653-4E81-4996-B4C1-D8BD935B0449}" type="sibTrans" cxnId="{FFBE5E2E-EC2C-4608-9488-7E1C621A7896}">
      <dgm:prSet/>
      <dgm:spPr/>
      <dgm:t>
        <a:bodyPr/>
        <a:lstStyle/>
        <a:p>
          <a:endParaRPr lang="en-US"/>
        </a:p>
      </dgm:t>
    </dgm:pt>
    <dgm:pt modelId="{896C0A27-D217-49B0-B129-C2F42AE98F4D}">
      <dgm:prSet phldrT="[Text]"/>
      <dgm:spPr/>
      <dgm:t>
        <a:bodyPr/>
        <a:lstStyle/>
        <a:p>
          <a:r>
            <a:rPr lang="en-US" b="0" dirty="0">
              <a:latin typeface="Times New Roman" panose="02020603050405020304" pitchFamily="18" charset="0"/>
              <a:cs typeface="Times New Roman" panose="02020603050405020304" pitchFamily="18" charset="0"/>
            </a:rPr>
            <a:t>Roll Number: 92300957018</a:t>
          </a:r>
        </a:p>
      </dgm:t>
    </dgm:pt>
    <dgm:pt modelId="{2FB92776-2083-4764-8A89-E58151678E9F}" type="parTrans" cxnId="{E44A85BA-2CA2-4399-BA58-28A0DCF7940A}">
      <dgm:prSet/>
      <dgm:spPr/>
      <dgm:t>
        <a:bodyPr/>
        <a:lstStyle/>
        <a:p>
          <a:endParaRPr lang="en-US"/>
        </a:p>
      </dgm:t>
    </dgm:pt>
    <dgm:pt modelId="{E54D917B-0114-48DC-A788-FCA8A9EAB7D3}" type="sibTrans" cxnId="{E44A85BA-2CA2-4399-BA58-28A0DCF7940A}">
      <dgm:prSet/>
      <dgm:spPr/>
      <dgm:t>
        <a:bodyPr/>
        <a:lstStyle/>
        <a:p>
          <a:endParaRPr lang="en-US"/>
        </a:p>
      </dgm:t>
    </dgm:pt>
    <dgm:pt modelId="{D768736E-BFA5-4852-9354-2874A7844A73}">
      <dgm:prSet phldrT="[Text]"/>
      <dgm:spPr/>
      <dgm:t>
        <a:bodyPr/>
        <a:lstStyle/>
        <a:p>
          <a:r>
            <a:rPr lang="en-US" b="0" dirty="0">
              <a:latin typeface="Times New Roman" panose="02020603050405020304" pitchFamily="18" charset="0"/>
              <a:cs typeface="Times New Roman" panose="02020603050405020304" pitchFamily="18" charset="0"/>
            </a:rPr>
            <a:t>Semester: 6</a:t>
          </a:r>
          <a:r>
            <a:rPr lang="en-US" b="0" baseline="30000" dirty="0">
              <a:latin typeface="Times New Roman" panose="02020603050405020304" pitchFamily="18" charset="0"/>
              <a:cs typeface="Times New Roman" panose="02020603050405020304" pitchFamily="18" charset="0"/>
            </a:rPr>
            <a:t>th</a:t>
          </a:r>
          <a:r>
            <a:rPr lang="en-US" b="0" dirty="0">
              <a:latin typeface="Times New Roman" panose="02020603050405020304" pitchFamily="18" charset="0"/>
              <a:cs typeface="Times New Roman" panose="02020603050405020304" pitchFamily="18" charset="0"/>
            </a:rPr>
            <a:t> </a:t>
          </a:r>
        </a:p>
      </dgm:t>
    </dgm:pt>
    <dgm:pt modelId="{B2BEB38A-F6A0-41D7-A268-FFEC64F006F3}" type="parTrans" cxnId="{3CD088F2-7E17-47EC-A773-B393E7B44209}">
      <dgm:prSet/>
      <dgm:spPr/>
      <dgm:t>
        <a:bodyPr/>
        <a:lstStyle/>
        <a:p>
          <a:endParaRPr lang="en-US"/>
        </a:p>
      </dgm:t>
    </dgm:pt>
    <dgm:pt modelId="{8B06102D-FD38-4C0F-889F-826762CEB687}" type="sibTrans" cxnId="{3CD088F2-7E17-47EC-A773-B393E7B44209}">
      <dgm:prSet/>
      <dgm:spPr/>
      <dgm:t>
        <a:bodyPr/>
        <a:lstStyle/>
        <a:p>
          <a:endParaRPr lang="en-US"/>
        </a:p>
      </dgm:t>
    </dgm:pt>
    <dgm:pt modelId="{1B382508-DD19-40A3-A923-3DCFBC6DBFF8}">
      <dgm:prSet phldrT="[Text]"/>
      <dgm:spPr/>
      <dgm:t>
        <a:bodyPr/>
        <a:lstStyle/>
        <a:p>
          <a:r>
            <a:rPr lang="en-US" b="0" dirty="0">
              <a:latin typeface="Times New Roman" panose="02020603050405020304" pitchFamily="18" charset="0"/>
              <a:cs typeface="Times New Roman" panose="02020603050405020304" pitchFamily="18" charset="0"/>
            </a:rPr>
            <a:t>Subject: </a:t>
          </a:r>
          <a:r>
            <a:rPr lang="en-US" b="0" dirty="0">
              <a:latin typeface="Times New Roman" panose="02020603050405020304" pitchFamily="18" charset="0"/>
              <a:cs typeface="Times New Roman" panose="02020603050405020304" pitchFamily="18" charset="0"/>
              <a:sym typeface="Calibri"/>
            </a:rPr>
            <a:t>PROJECT II (09CT0602)</a:t>
          </a:r>
        </a:p>
      </dgm:t>
    </dgm:pt>
    <dgm:pt modelId="{37BB3383-78D5-456B-B64B-6D10764CFBB0}" type="parTrans" cxnId="{432A5642-8622-416B-85E7-C7A86041F5F1}">
      <dgm:prSet/>
      <dgm:spPr/>
      <dgm:t>
        <a:bodyPr/>
        <a:lstStyle/>
        <a:p>
          <a:endParaRPr lang="en-US"/>
        </a:p>
      </dgm:t>
    </dgm:pt>
    <dgm:pt modelId="{63778C1B-A765-42F1-9955-147934765073}" type="sibTrans" cxnId="{432A5642-8622-416B-85E7-C7A86041F5F1}">
      <dgm:prSet/>
      <dgm:spPr/>
      <dgm:t>
        <a:bodyPr/>
        <a:lstStyle/>
        <a:p>
          <a:endParaRPr lang="en-US"/>
        </a:p>
      </dgm:t>
    </dgm:pt>
    <dgm:pt modelId="{845846B6-A275-40BD-9DB5-5FEAFB9B9770}">
      <dgm:prSet phldrT="[Text]"/>
      <dgm:spPr/>
      <dgm:t>
        <a:bodyPr/>
        <a:lstStyle/>
        <a:p>
          <a:r>
            <a:rPr lang="en-US" b="0" dirty="0">
              <a:latin typeface="Times New Roman" panose="02020603050405020304" pitchFamily="18" charset="0"/>
              <a:cs typeface="Times New Roman" panose="02020603050405020304" pitchFamily="18" charset="0"/>
            </a:rPr>
            <a:t>Domain of Project : Web Application </a:t>
          </a:r>
        </a:p>
      </dgm:t>
    </dgm:pt>
    <dgm:pt modelId="{0C3B6662-A76B-4FEE-82E0-2DD81572CD95}" type="parTrans" cxnId="{AF06C825-268A-44A8-8445-E97C70EA48F0}">
      <dgm:prSet/>
      <dgm:spPr/>
      <dgm:t>
        <a:bodyPr/>
        <a:lstStyle/>
        <a:p>
          <a:endParaRPr lang="en-US"/>
        </a:p>
      </dgm:t>
    </dgm:pt>
    <dgm:pt modelId="{6E6FE59F-C3F9-44E0-BA4B-E967499537C9}" type="sibTrans" cxnId="{AF06C825-268A-44A8-8445-E97C70EA48F0}">
      <dgm:prSet/>
      <dgm:spPr/>
      <dgm:t>
        <a:bodyPr/>
        <a:lstStyle/>
        <a:p>
          <a:endParaRPr lang="en-US"/>
        </a:p>
      </dgm:t>
    </dgm:pt>
    <dgm:pt modelId="{B0739E8D-FE2E-4CBD-97EF-74B3031A300C}">
      <dgm:prSet phldrT="[Text]"/>
      <dgm:spPr/>
      <dgm:t>
        <a:bodyPr/>
        <a:lstStyle/>
        <a:p>
          <a:r>
            <a:rPr lang="en-US" b="0" dirty="0">
              <a:latin typeface="Times New Roman" panose="02020603050405020304" pitchFamily="18" charset="0"/>
              <a:cs typeface="Times New Roman" panose="02020603050405020304" pitchFamily="18" charset="0"/>
            </a:rPr>
            <a:t>Title: </a:t>
          </a:r>
          <a:r>
            <a:rPr lang="en-IN" b="0" dirty="0">
              <a:latin typeface="Times New Roman" panose="02020603050405020304" pitchFamily="18" charset="0"/>
              <a:cs typeface="Times New Roman" panose="02020603050405020304" pitchFamily="18" charset="0"/>
            </a:rPr>
            <a:t>Smart Online Exam Monitoring System</a:t>
          </a:r>
          <a:endParaRPr lang="en-US" b="0" dirty="0">
            <a:latin typeface="Times New Roman" panose="02020603050405020304" pitchFamily="18" charset="0"/>
            <a:cs typeface="Times New Roman" panose="02020603050405020304" pitchFamily="18" charset="0"/>
          </a:endParaRPr>
        </a:p>
      </dgm:t>
    </dgm:pt>
    <dgm:pt modelId="{91D2D506-8484-4035-8021-EAD70ECD662A}" type="parTrans" cxnId="{7576ECBE-4D9D-4960-B437-6D6C9A6B9160}">
      <dgm:prSet/>
      <dgm:spPr/>
      <dgm:t>
        <a:bodyPr/>
        <a:lstStyle/>
        <a:p>
          <a:endParaRPr lang="en-US"/>
        </a:p>
      </dgm:t>
    </dgm:pt>
    <dgm:pt modelId="{104967E2-83C2-40CA-8A48-274FF6E2D299}" type="sibTrans" cxnId="{7576ECBE-4D9D-4960-B437-6D6C9A6B9160}">
      <dgm:prSet/>
      <dgm:spPr/>
      <dgm:t>
        <a:bodyPr/>
        <a:lstStyle/>
        <a:p>
          <a:endParaRPr lang="en-US"/>
        </a:p>
      </dgm:t>
    </dgm:pt>
    <dgm:pt modelId="{7BAF2763-45B9-4119-B18C-900284572A4B}">
      <dgm:prSet/>
      <dgm:spPr/>
      <dgm:t>
        <a:bodyPr/>
        <a:lstStyle/>
        <a:p>
          <a:r>
            <a:rPr lang="en-IN" dirty="0">
              <a:latin typeface="Times New Roman" panose="02020603050405020304" pitchFamily="18" charset="0"/>
              <a:cs typeface="Times New Roman" panose="02020603050405020304" pitchFamily="18" charset="0"/>
            </a:rPr>
            <a:t>Guide Name: Prof. Chirag </a:t>
          </a:r>
          <a:r>
            <a:rPr lang="en-IN" dirty="0" err="1">
              <a:latin typeface="Times New Roman" panose="02020603050405020304" pitchFamily="18" charset="0"/>
              <a:cs typeface="Times New Roman" panose="02020603050405020304" pitchFamily="18" charset="0"/>
            </a:rPr>
            <a:t>Visani</a:t>
          </a:r>
          <a:endParaRPr lang="en-IN" dirty="0">
            <a:latin typeface="Times New Roman" panose="02020603050405020304" pitchFamily="18" charset="0"/>
            <a:cs typeface="Times New Roman" panose="02020603050405020304" pitchFamily="18" charset="0"/>
          </a:endParaRPr>
        </a:p>
      </dgm:t>
    </dgm:pt>
    <dgm:pt modelId="{D82FD11E-74D8-4076-A2E9-9585717CD558}" type="parTrans" cxnId="{F814EAA7-26D0-4885-8C7C-6E5F3AADE79E}">
      <dgm:prSet/>
      <dgm:spPr/>
      <dgm:t>
        <a:bodyPr/>
        <a:lstStyle/>
        <a:p>
          <a:endParaRPr lang="en-IN"/>
        </a:p>
      </dgm:t>
    </dgm:pt>
    <dgm:pt modelId="{00546DB8-1435-4123-BBE5-74DC896457A8}" type="sibTrans" cxnId="{F814EAA7-26D0-4885-8C7C-6E5F3AADE79E}">
      <dgm:prSet/>
      <dgm:spPr/>
      <dgm:t>
        <a:bodyPr/>
        <a:lstStyle/>
        <a:p>
          <a:endParaRPr lang="en-IN"/>
        </a:p>
      </dgm:t>
    </dgm:pt>
    <dgm:pt modelId="{D75DF5FD-1B9E-4C28-BA58-47FD9CA3B7AE}" type="pres">
      <dgm:prSet presAssocID="{2CADC94A-A390-4CD7-ABF7-642619AA24CE}" presName="Name0" presStyleCnt="0">
        <dgm:presLayoutVars>
          <dgm:chMax val="7"/>
          <dgm:chPref val="7"/>
          <dgm:dir/>
        </dgm:presLayoutVars>
      </dgm:prSet>
      <dgm:spPr/>
    </dgm:pt>
    <dgm:pt modelId="{56E859B6-BD90-4B27-A9AF-2161AA4C1609}" type="pres">
      <dgm:prSet presAssocID="{2CADC94A-A390-4CD7-ABF7-642619AA24CE}" presName="Name1" presStyleCnt="0"/>
      <dgm:spPr/>
    </dgm:pt>
    <dgm:pt modelId="{E5BC7E4B-D2A8-4AE8-B48E-0D872BB8BAC3}" type="pres">
      <dgm:prSet presAssocID="{2CADC94A-A390-4CD7-ABF7-642619AA24CE}" presName="cycle" presStyleCnt="0"/>
      <dgm:spPr/>
    </dgm:pt>
    <dgm:pt modelId="{0F958997-99C1-4CC6-A49C-B629385783F5}" type="pres">
      <dgm:prSet presAssocID="{2CADC94A-A390-4CD7-ABF7-642619AA24CE}" presName="srcNode" presStyleLbl="node1" presStyleIdx="0" presStyleCnt="7"/>
      <dgm:spPr/>
    </dgm:pt>
    <dgm:pt modelId="{E53B17BC-E3BC-4656-9C34-B5C05C4C0C78}" type="pres">
      <dgm:prSet presAssocID="{2CADC94A-A390-4CD7-ABF7-642619AA24CE}" presName="conn" presStyleLbl="parChTrans1D2" presStyleIdx="0" presStyleCnt="1"/>
      <dgm:spPr/>
    </dgm:pt>
    <dgm:pt modelId="{2A10F943-1A5C-477A-9B6D-AED9D232A6EA}" type="pres">
      <dgm:prSet presAssocID="{2CADC94A-A390-4CD7-ABF7-642619AA24CE}" presName="extraNode" presStyleLbl="node1" presStyleIdx="0" presStyleCnt="7"/>
      <dgm:spPr/>
    </dgm:pt>
    <dgm:pt modelId="{BCEF5C09-CFA0-4365-A979-329FE7A5D86B}" type="pres">
      <dgm:prSet presAssocID="{2CADC94A-A390-4CD7-ABF7-642619AA24CE}" presName="dstNode" presStyleLbl="node1" presStyleIdx="0" presStyleCnt="7"/>
      <dgm:spPr/>
    </dgm:pt>
    <dgm:pt modelId="{1E78C7AF-1BB9-4346-929D-E258EF4084EB}" type="pres">
      <dgm:prSet presAssocID="{ECE5FD1A-48BD-40DD-BACA-71A82401C155}" presName="text_1" presStyleLbl="node1" presStyleIdx="0" presStyleCnt="7">
        <dgm:presLayoutVars>
          <dgm:bulletEnabled val="1"/>
        </dgm:presLayoutVars>
      </dgm:prSet>
      <dgm:spPr/>
    </dgm:pt>
    <dgm:pt modelId="{7025AD4C-E0D5-4835-A3F5-2B8B4D8FFB17}" type="pres">
      <dgm:prSet presAssocID="{ECE5FD1A-48BD-40DD-BACA-71A82401C155}" presName="accent_1" presStyleCnt="0"/>
      <dgm:spPr/>
    </dgm:pt>
    <dgm:pt modelId="{889069C9-91FA-476B-B536-23BB66E7F4DA}" type="pres">
      <dgm:prSet presAssocID="{ECE5FD1A-48BD-40DD-BACA-71A82401C155}" presName="accentRepeatNode" presStyleLbl="solidFgAcc1" presStyleIdx="0" presStyleCnt="7"/>
      <dgm:spPr/>
    </dgm:pt>
    <dgm:pt modelId="{A8EC33C9-B46C-4D40-AC3F-B4834AEC4917}" type="pres">
      <dgm:prSet presAssocID="{896C0A27-D217-49B0-B129-C2F42AE98F4D}" presName="text_2" presStyleLbl="node1" presStyleIdx="1" presStyleCnt="7">
        <dgm:presLayoutVars>
          <dgm:bulletEnabled val="1"/>
        </dgm:presLayoutVars>
      </dgm:prSet>
      <dgm:spPr/>
    </dgm:pt>
    <dgm:pt modelId="{0E18095B-101C-46E7-ACAE-6362F7277BCA}" type="pres">
      <dgm:prSet presAssocID="{896C0A27-D217-49B0-B129-C2F42AE98F4D}" presName="accent_2" presStyleCnt="0"/>
      <dgm:spPr/>
    </dgm:pt>
    <dgm:pt modelId="{8ECDB02D-0D63-4E3F-858C-497BD51159C8}" type="pres">
      <dgm:prSet presAssocID="{896C0A27-D217-49B0-B129-C2F42AE98F4D}" presName="accentRepeatNode" presStyleLbl="solidFgAcc1" presStyleIdx="1" presStyleCnt="7"/>
      <dgm:spPr/>
    </dgm:pt>
    <dgm:pt modelId="{49ECA80F-7E69-462A-8E97-9570353D6574}" type="pres">
      <dgm:prSet presAssocID="{D768736E-BFA5-4852-9354-2874A7844A73}" presName="text_3" presStyleLbl="node1" presStyleIdx="2" presStyleCnt="7">
        <dgm:presLayoutVars>
          <dgm:bulletEnabled val="1"/>
        </dgm:presLayoutVars>
      </dgm:prSet>
      <dgm:spPr/>
    </dgm:pt>
    <dgm:pt modelId="{E812DD68-B853-417E-87C3-73B7CD05CBCC}" type="pres">
      <dgm:prSet presAssocID="{D768736E-BFA5-4852-9354-2874A7844A73}" presName="accent_3" presStyleCnt="0"/>
      <dgm:spPr/>
    </dgm:pt>
    <dgm:pt modelId="{C886F420-E0CD-47D1-8C8F-6D6D594557F1}" type="pres">
      <dgm:prSet presAssocID="{D768736E-BFA5-4852-9354-2874A7844A73}" presName="accentRepeatNode" presStyleLbl="solidFgAcc1" presStyleIdx="2" presStyleCnt="7"/>
      <dgm:spPr/>
    </dgm:pt>
    <dgm:pt modelId="{EE431E8D-2AB1-4921-AF34-608ECCCC2CC6}" type="pres">
      <dgm:prSet presAssocID="{1B382508-DD19-40A3-A923-3DCFBC6DBFF8}" presName="text_4" presStyleLbl="node1" presStyleIdx="3" presStyleCnt="7">
        <dgm:presLayoutVars>
          <dgm:bulletEnabled val="1"/>
        </dgm:presLayoutVars>
      </dgm:prSet>
      <dgm:spPr/>
    </dgm:pt>
    <dgm:pt modelId="{B112EF98-E584-4570-92C5-0CFCC2A29646}" type="pres">
      <dgm:prSet presAssocID="{1B382508-DD19-40A3-A923-3DCFBC6DBFF8}" presName="accent_4" presStyleCnt="0"/>
      <dgm:spPr/>
    </dgm:pt>
    <dgm:pt modelId="{38EC816E-3654-4794-9DB0-8271D2991825}" type="pres">
      <dgm:prSet presAssocID="{1B382508-DD19-40A3-A923-3DCFBC6DBFF8}" presName="accentRepeatNode" presStyleLbl="solidFgAcc1" presStyleIdx="3" presStyleCnt="7"/>
      <dgm:spPr/>
    </dgm:pt>
    <dgm:pt modelId="{A76899EE-3066-4ED6-8AD5-4CB2F69A22C9}" type="pres">
      <dgm:prSet presAssocID="{845846B6-A275-40BD-9DB5-5FEAFB9B9770}" presName="text_5" presStyleLbl="node1" presStyleIdx="4" presStyleCnt="7">
        <dgm:presLayoutVars>
          <dgm:bulletEnabled val="1"/>
        </dgm:presLayoutVars>
      </dgm:prSet>
      <dgm:spPr/>
    </dgm:pt>
    <dgm:pt modelId="{72EDBD7E-5691-4852-8496-D72C12E09409}" type="pres">
      <dgm:prSet presAssocID="{845846B6-A275-40BD-9DB5-5FEAFB9B9770}" presName="accent_5" presStyleCnt="0"/>
      <dgm:spPr/>
    </dgm:pt>
    <dgm:pt modelId="{4801581D-4CF9-46C3-B125-7092E319A100}" type="pres">
      <dgm:prSet presAssocID="{845846B6-A275-40BD-9DB5-5FEAFB9B9770}" presName="accentRepeatNode" presStyleLbl="solidFgAcc1" presStyleIdx="4" presStyleCnt="7"/>
      <dgm:spPr/>
    </dgm:pt>
    <dgm:pt modelId="{9C90EF7D-2791-46A9-B6D2-D65A08F3C82B}" type="pres">
      <dgm:prSet presAssocID="{B0739E8D-FE2E-4CBD-97EF-74B3031A300C}" presName="text_6" presStyleLbl="node1" presStyleIdx="5" presStyleCnt="7">
        <dgm:presLayoutVars>
          <dgm:bulletEnabled val="1"/>
        </dgm:presLayoutVars>
      </dgm:prSet>
      <dgm:spPr/>
    </dgm:pt>
    <dgm:pt modelId="{23675E82-7BF8-42B8-B263-9E8D3C3C02D6}" type="pres">
      <dgm:prSet presAssocID="{B0739E8D-FE2E-4CBD-97EF-74B3031A300C}" presName="accent_6" presStyleCnt="0"/>
      <dgm:spPr/>
    </dgm:pt>
    <dgm:pt modelId="{F4332465-11A0-4443-8E1A-9172BA1970B9}" type="pres">
      <dgm:prSet presAssocID="{B0739E8D-FE2E-4CBD-97EF-74B3031A300C}" presName="accentRepeatNode" presStyleLbl="solidFgAcc1" presStyleIdx="5" presStyleCnt="7"/>
      <dgm:spPr/>
    </dgm:pt>
    <dgm:pt modelId="{8CD0E823-3D1E-443E-BB99-DE96A58FE5D3}" type="pres">
      <dgm:prSet presAssocID="{7BAF2763-45B9-4119-B18C-900284572A4B}" presName="text_7" presStyleLbl="node1" presStyleIdx="6" presStyleCnt="7">
        <dgm:presLayoutVars>
          <dgm:bulletEnabled val="1"/>
        </dgm:presLayoutVars>
      </dgm:prSet>
      <dgm:spPr/>
    </dgm:pt>
    <dgm:pt modelId="{C77E13A2-6A66-426F-A40D-EC5472F5AC6E}" type="pres">
      <dgm:prSet presAssocID="{7BAF2763-45B9-4119-B18C-900284572A4B}" presName="accent_7" presStyleCnt="0"/>
      <dgm:spPr/>
    </dgm:pt>
    <dgm:pt modelId="{19C3C074-0CBF-4A7E-90B1-95BA727D702D}" type="pres">
      <dgm:prSet presAssocID="{7BAF2763-45B9-4119-B18C-900284572A4B}" presName="accentRepeatNode" presStyleLbl="solidFgAcc1" presStyleIdx="6" presStyleCnt="7"/>
      <dgm:spPr/>
    </dgm:pt>
  </dgm:ptLst>
  <dgm:cxnLst>
    <dgm:cxn modelId="{813CDE09-4B5A-46C7-AED3-EC754B7114C0}" type="presOf" srcId="{C3A43653-4E81-4996-B4C1-D8BD935B0449}" destId="{E53B17BC-E3BC-4656-9C34-B5C05C4C0C78}" srcOrd="0" destOrd="0" presId="urn:microsoft.com/office/officeart/2008/layout/VerticalCurvedList"/>
    <dgm:cxn modelId="{4E46721F-3807-494A-8889-902ADB1D2C4B}" type="presOf" srcId="{896C0A27-D217-49B0-B129-C2F42AE98F4D}" destId="{A8EC33C9-B46C-4D40-AC3F-B4834AEC4917}" srcOrd="0" destOrd="0" presId="urn:microsoft.com/office/officeart/2008/layout/VerticalCurvedList"/>
    <dgm:cxn modelId="{AF06C825-268A-44A8-8445-E97C70EA48F0}" srcId="{2CADC94A-A390-4CD7-ABF7-642619AA24CE}" destId="{845846B6-A275-40BD-9DB5-5FEAFB9B9770}" srcOrd="4" destOrd="0" parTransId="{0C3B6662-A76B-4FEE-82E0-2DD81572CD95}" sibTransId="{6E6FE59F-C3F9-44E0-BA4B-E967499537C9}"/>
    <dgm:cxn modelId="{FFBE5E2E-EC2C-4608-9488-7E1C621A7896}" srcId="{2CADC94A-A390-4CD7-ABF7-642619AA24CE}" destId="{ECE5FD1A-48BD-40DD-BACA-71A82401C155}" srcOrd="0" destOrd="0" parTransId="{AE3E35B7-7150-499E-AE72-141939A057DC}" sibTransId="{C3A43653-4E81-4996-B4C1-D8BD935B0449}"/>
    <dgm:cxn modelId="{FBCCAF3A-E33E-481D-8C44-E6122596747B}" type="presOf" srcId="{D768736E-BFA5-4852-9354-2874A7844A73}" destId="{49ECA80F-7E69-462A-8E97-9570353D6574}" srcOrd="0" destOrd="0" presId="urn:microsoft.com/office/officeart/2008/layout/VerticalCurvedList"/>
    <dgm:cxn modelId="{0657DA61-7A5B-41D8-8E1B-EDADCF607F54}" type="presOf" srcId="{ECE5FD1A-48BD-40DD-BACA-71A82401C155}" destId="{1E78C7AF-1BB9-4346-929D-E258EF4084EB}" srcOrd="0" destOrd="0" presId="urn:microsoft.com/office/officeart/2008/layout/VerticalCurvedList"/>
    <dgm:cxn modelId="{432A5642-8622-416B-85E7-C7A86041F5F1}" srcId="{2CADC94A-A390-4CD7-ABF7-642619AA24CE}" destId="{1B382508-DD19-40A3-A923-3DCFBC6DBFF8}" srcOrd="3" destOrd="0" parTransId="{37BB3383-78D5-456B-B64B-6D10764CFBB0}" sibTransId="{63778C1B-A765-42F1-9955-147934765073}"/>
    <dgm:cxn modelId="{35DBA462-5EAD-462F-A40B-E7100D51006C}" type="presOf" srcId="{2CADC94A-A390-4CD7-ABF7-642619AA24CE}" destId="{D75DF5FD-1B9E-4C28-BA58-47FD9CA3B7AE}" srcOrd="0" destOrd="0" presId="urn:microsoft.com/office/officeart/2008/layout/VerticalCurvedList"/>
    <dgm:cxn modelId="{C6E97981-5331-4492-8B82-B41F2DB25811}" type="presOf" srcId="{7BAF2763-45B9-4119-B18C-900284572A4B}" destId="{8CD0E823-3D1E-443E-BB99-DE96A58FE5D3}" srcOrd="0" destOrd="0" presId="urn:microsoft.com/office/officeart/2008/layout/VerticalCurvedList"/>
    <dgm:cxn modelId="{DE442B9C-4F5D-4AEA-8401-8FDF299D193B}" type="presOf" srcId="{B0739E8D-FE2E-4CBD-97EF-74B3031A300C}" destId="{9C90EF7D-2791-46A9-B6D2-D65A08F3C82B}" srcOrd="0" destOrd="0" presId="urn:microsoft.com/office/officeart/2008/layout/VerticalCurvedList"/>
    <dgm:cxn modelId="{F814EAA7-26D0-4885-8C7C-6E5F3AADE79E}" srcId="{2CADC94A-A390-4CD7-ABF7-642619AA24CE}" destId="{7BAF2763-45B9-4119-B18C-900284572A4B}" srcOrd="6" destOrd="0" parTransId="{D82FD11E-74D8-4076-A2E9-9585717CD558}" sibTransId="{00546DB8-1435-4123-BBE5-74DC896457A8}"/>
    <dgm:cxn modelId="{61C687AC-4E9F-470E-92BE-A9BD4047AC64}" type="presOf" srcId="{845846B6-A275-40BD-9DB5-5FEAFB9B9770}" destId="{A76899EE-3066-4ED6-8AD5-4CB2F69A22C9}" srcOrd="0" destOrd="0" presId="urn:microsoft.com/office/officeart/2008/layout/VerticalCurvedList"/>
    <dgm:cxn modelId="{E44A85BA-2CA2-4399-BA58-28A0DCF7940A}" srcId="{2CADC94A-A390-4CD7-ABF7-642619AA24CE}" destId="{896C0A27-D217-49B0-B129-C2F42AE98F4D}" srcOrd="1" destOrd="0" parTransId="{2FB92776-2083-4764-8A89-E58151678E9F}" sibTransId="{E54D917B-0114-48DC-A788-FCA8A9EAB7D3}"/>
    <dgm:cxn modelId="{7576ECBE-4D9D-4960-B437-6D6C9A6B9160}" srcId="{2CADC94A-A390-4CD7-ABF7-642619AA24CE}" destId="{B0739E8D-FE2E-4CBD-97EF-74B3031A300C}" srcOrd="5" destOrd="0" parTransId="{91D2D506-8484-4035-8021-EAD70ECD662A}" sibTransId="{104967E2-83C2-40CA-8A48-274FF6E2D299}"/>
    <dgm:cxn modelId="{0322F3CC-0C6F-4595-AD36-D1D8B3A4A65F}" type="presOf" srcId="{1B382508-DD19-40A3-A923-3DCFBC6DBFF8}" destId="{EE431E8D-2AB1-4921-AF34-608ECCCC2CC6}" srcOrd="0" destOrd="0" presId="urn:microsoft.com/office/officeart/2008/layout/VerticalCurvedList"/>
    <dgm:cxn modelId="{3CD088F2-7E17-47EC-A773-B393E7B44209}" srcId="{2CADC94A-A390-4CD7-ABF7-642619AA24CE}" destId="{D768736E-BFA5-4852-9354-2874A7844A73}" srcOrd="2" destOrd="0" parTransId="{B2BEB38A-F6A0-41D7-A268-FFEC64F006F3}" sibTransId="{8B06102D-FD38-4C0F-889F-826762CEB687}"/>
    <dgm:cxn modelId="{E6854013-D931-4CD0-AD26-498210B1C02F}" type="presParOf" srcId="{D75DF5FD-1B9E-4C28-BA58-47FD9CA3B7AE}" destId="{56E859B6-BD90-4B27-A9AF-2161AA4C1609}" srcOrd="0" destOrd="0" presId="urn:microsoft.com/office/officeart/2008/layout/VerticalCurvedList"/>
    <dgm:cxn modelId="{D989D364-04AE-4412-A696-DAF92576A134}" type="presParOf" srcId="{56E859B6-BD90-4B27-A9AF-2161AA4C1609}" destId="{E5BC7E4B-D2A8-4AE8-B48E-0D872BB8BAC3}" srcOrd="0" destOrd="0" presId="urn:microsoft.com/office/officeart/2008/layout/VerticalCurvedList"/>
    <dgm:cxn modelId="{DC7FA09E-F543-418B-8B01-455D24F03BAE}" type="presParOf" srcId="{E5BC7E4B-D2A8-4AE8-B48E-0D872BB8BAC3}" destId="{0F958997-99C1-4CC6-A49C-B629385783F5}" srcOrd="0" destOrd="0" presId="urn:microsoft.com/office/officeart/2008/layout/VerticalCurvedList"/>
    <dgm:cxn modelId="{B4F3B878-75C8-4E29-9384-184CE97C1022}" type="presParOf" srcId="{E5BC7E4B-D2A8-4AE8-B48E-0D872BB8BAC3}" destId="{E53B17BC-E3BC-4656-9C34-B5C05C4C0C78}" srcOrd="1" destOrd="0" presId="urn:microsoft.com/office/officeart/2008/layout/VerticalCurvedList"/>
    <dgm:cxn modelId="{72B5C028-899F-4BEC-A6EF-A8CABEF55859}" type="presParOf" srcId="{E5BC7E4B-D2A8-4AE8-B48E-0D872BB8BAC3}" destId="{2A10F943-1A5C-477A-9B6D-AED9D232A6EA}" srcOrd="2" destOrd="0" presId="urn:microsoft.com/office/officeart/2008/layout/VerticalCurvedList"/>
    <dgm:cxn modelId="{FF6990EB-A0BA-42C5-9ECB-85A00F332220}" type="presParOf" srcId="{E5BC7E4B-D2A8-4AE8-B48E-0D872BB8BAC3}" destId="{BCEF5C09-CFA0-4365-A979-329FE7A5D86B}" srcOrd="3" destOrd="0" presId="urn:microsoft.com/office/officeart/2008/layout/VerticalCurvedList"/>
    <dgm:cxn modelId="{D87BA10A-5674-4E42-8856-1F1F75408C45}" type="presParOf" srcId="{56E859B6-BD90-4B27-A9AF-2161AA4C1609}" destId="{1E78C7AF-1BB9-4346-929D-E258EF4084EB}" srcOrd="1" destOrd="0" presId="urn:microsoft.com/office/officeart/2008/layout/VerticalCurvedList"/>
    <dgm:cxn modelId="{7AB3D1F9-A4FC-4692-8A0A-838689CDEF0E}" type="presParOf" srcId="{56E859B6-BD90-4B27-A9AF-2161AA4C1609}" destId="{7025AD4C-E0D5-4835-A3F5-2B8B4D8FFB17}" srcOrd="2" destOrd="0" presId="urn:microsoft.com/office/officeart/2008/layout/VerticalCurvedList"/>
    <dgm:cxn modelId="{DDA734F6-AE6C-479C-AC5B-6BD34B525EF4}" type="presParOf" srcId="{7025AD4C-E0D5-4835-A3F5-2B8B4D8FFB17}" destId="{889069C9-91FA-476B-B536-23BB66E7F4DA}" srcOrd="0" destOrd="0" presId="urn:microsoft.com/office/officeart/2008/layout/VerticalCurvedList"/>
    <dgm:cxn modelId="{C7CAEFE4-BBEF-4452-B8D7-C06799B78342}" type="presParOf" srcId="{56E859B6-BD90-4B27-A9AF-2161AA4C1609}" destId="{A8EC33C9-B46C-4D40-AC3F-B4834AEC4917}" srcOrd="3" destOrd="0" presId="urn:microsoft.com/office/officeart/2008/layout/VerticalCurvedList"/>
    <dgm:cxn modelId="{5D04EC33-0131-4AEF-90B4-274B925FB8F3}" type="presParOf" srcId="{56E859B6-BD90-4B27-A9AF-2161AA4C1609}" destId="{0E18095B-101C-46E7-ACAE-6362F7277BCA}" srcOrd="4" destOrd="0" presId="urn:microsoft.com/office/officeart/2008/layout/VerticalCurvedList"/>
    <dgm:cxn modelId="{50D8EA54-75A4-4BA1-B842-D7D268483B05}" type="presParOf" srcId="{0E18095B-101C-46E7-ACAE-6362F7277BCA}" destId="{8ECDB02D-0D63-4E3F-858C-497BD51159C8}" srcOrd="0" destOrd="0" presId="urn:microsoft.com/office/officeart/2008/layout/VerticalCurvedList"/>
    <dgm:cxn modelId="{3CCC62BD-95E8-4CFA-B04B-9FF51BB9DEF0}" type="presParOf" srcId="{56E859B6-BD90-4B27-A9AF-2161AA4C1609}" destId="{49ECA80F-7E69-462A-8E97-9570353D6574}" srcOrd="5" destOrd="0" presId="urn:microsoft.com/office/officeart/2008/layout/VerticalCurvedList"/>
    <dgm:cxn modelId="{3B27D0BD-C916-433D-9F22-BF7202D3A377}" type="presParOf" srcId="{56E859B6-BD90-4B27-A9AF-2161AA4C1609}" destId="{E812DD68-B853-417E-87C3-73B7CD05CBCC}" srcOrd="6" destOrd="0" presId="urn:microsoft.com/office/officeart/2008/layout/VerticalCurvedList"/>
    <dgm:cxn modelId="{D43C4AC8-A666-4CCF-AE66-7BF6CBDDB75E}" type="presParOf" srcId="{E812DD68-B853-417E-87C3-73B7CD05CBCC}" destId="{C886F420-E0CD-47D1-8C8F-6D6D594557F1}" srcOrd="0" destOrd="0" presId="urn:microsoft.com/office/officeart/2008/layout/VerticalCurvedList"/>
    <dgm:cxn modelId="{41607115-504A-4790-8786-08756551754F}" type="presParOf" srcId="{56E859B6-BD90-4B27-A9AF-2161AA4C1609}" destId="{EE431E8D-2AB1-4921-AF34-608ECCCC2CC6}" srcOrd="7" destOrd="0" presId="urn:microsoft.com/office/officeart/2008/layout/VerticalCurvedList"/>
    <dgm:cxn modelId="{E57C8505-390F-4E61-A04C-4385098EB845}" type="presParOf" srcId="{56E859B6-BD90-4B27-A9AF-2161AA4C1609}" destId="{B112EF98-E584-4570-92C5-0CFCC2A29646}" srcOrd="8" destOrd="0" presId="urn:microsoft.com/office/officeart/2008/layout/VerticalCurvedList"/>
    <dgm:cxn modelId="{E524EAB4-66C8-4C24-8ABE-62207C29C108}" type="presParOf" srcId="{B112EF98-E584-4570-92C5-0CFCC2A29646}" destId="{38EC816E-3654-4794-9DB0-8271D2991825}" srcOrd="0" destOrd="0" presId="urn:microsoft.com/office/officeart/2008/layout/VerticalCurvedList"/>
    <dgm:cxn modelId="{D00DF286-FC9F-4381-B548-EE9FC742D45B}" type="presParOf" srcId="{56E859B6-BD90-4B27-A9AF-2161AA4C1609}" destId="{A76899EE-3066-4ED6-8AD5-4CB2F69A22C9}" srcOrd="9" destOrd="0" presId="urn:microsoft.com/office/officeart/2008/layout/VerticalCurvedList"/>
    <dgm:cxn modelId="{C504BD8D-923A-45A0-90EC-62DF051EB057}" type="presParOf" srcId="{56E859B6-BD90-4B27-A9AF-2161AA4C1609}" destId="{72EDBD7E-5691-4852-8496-D72C12E09409}" srcOrd="10" destOrd="0" presId="urn:microsoft.com/office/officeart/2008/layout/VerticalCurvedList"/>
    <dgm:cxn modelId="{A473B723-6171-4E18-B86E-0D7227FCFDFD}" type="presParOf" srcId="{72EDBD7E-5691-4852-8496-D72C12E09409}" destId="{4801581D-4CF9-46C3-B125-7092E319A100}" srcOrd="0" destOrd="0" presId="urn:microsoft.com/office/officeart/2008/layout/VerticalCurvedList"/>
    <dgm:cxn modelId="{32025B3E-8863-45F5-A793-6BE9627160F1}" type="presParOf" srcId="{56E859B6-BD90-4B27-A9AF-2161AA4C1609}" destId="{9C90EF7D-2791-46A9-B6D2-D65A08F3C82B}" srcOrd="11" destOrd="0" presId="urn:microsoft.com/office/officeart/2008/layout/VerticalCurvedList"/>
    <dgm:cxn modelId="{74BD4273-5A08-45C1-9203-1445A3416C39}" type="presParOf" srcId="{56E859B6-BD90-4B27-A9AF-2161AA4C1609}" destId="{23675E82-7BF8-42B8-B263-9E8D3C3C02D6}" srcOrd="12" destOrd="0" presId="urn:microsoft.com/office/officeart/2008/layout/VerticalCurvedList"/>
    <dgm:cxn modelId="{CF088E92-DD64-4BC8-B02E-1A1DE06462FB}" type="presParOf" srcId="{23675E82-7BF8-42B8-B263-9E8D3C3C02D6}" destId="{F4332465-11A0-4443-8E1A-9172BA1970B9}" srcOrd="0" destOrd="0" presId="urn:microsoft.com/office/officeart/2008/layout/VerticalCurvedList"/>
    <dgm:cxn modelId="{2104008C-6F6B-45C1-A983-B5AA1F69501C}" type="presParOf" srcId="{56E859B6-BD90-4B27-A9AF-2161AA4C1609}" destId="{8CD0E823-3D1E-443E-BB99-DE96A58FE5D3}" srcOrd="13" destOrd="0" presId="urn:microsoft.com/office/officeart/2008/layout/VerticalCurvedList"/>
    <dgm:cxn modelId="{9506CCF1-E761-43C0-B24A-B5FAAF851A42}" type="presParOf" srcId="{56E859B6-BD90-4B27-A9AF-2161AA4C1609}" destId="{C77E13A2-6A66-426F-A40D-EC5472F5AC6E}" srcOrd="14" destOrd="0" presId="urn:microsoft.com/office/officeart/2008/layout/VerticalCurvedList"/>
    <dgm:cxn modelId="{A4131B83-965C-4F10-83B5-4782654A638F}" type="presParOf" srcId="{C77E13A2-6A66-426F-A40D-EC5472F5AC6E}" destId="{19C3C074-0CBF-4A7E-90B1-95BA727D702D}"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3B17BC-E3BC-4656-9C34-B5C05C4C0C78}">
      <dsp:nvSpPr>
        <dsp:cNvPr id="0" name=""/>
        <dsp:cNvSpPr/>
      </dsp:nvSpPr>
      <dsp:spPr>
        <a:xfrm>
          <a:off x="-5001753" y="-766622"/>
          <a:ext cx="5958956" cy="5958956"/>
        </a:xfrm>
        <a:prstGeom prst="blockArc">
          <a:avLst>
            <a:gd name="adj1" fmla="val 18900000"/>
            <a:gd name="adj2" fmla="val 2700000"/>
            <a:gd name="adj3" fmla="val 362"/>
          </a:avLst>
        </a:pr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78C7AF-1BB9-4346-929D-E258EF4084EB}">
      <dsp:nvSpPr>
        <dsp:cNvPr id="0" name=""/>
        <dsp:cNvSpPr/>
      </dsp:nvSpPr>
      <dsp:spPr>
        <a:xfrm>
          <a:off x="310463" y="201192"/>
          <a:ext cx="6521447" cy="40220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9253" tIns="55880" rIns="55880" bIns="55880" numCol="1" spcCol="1270" anchor="ctr" anchorCtr="0">
          <a:noAutofit/>
        </a:bodyPr>
        <a:lstStyle/>
        <a:p>
          <a:pPr marL="0" lvl="0" indent="0" algn="l"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Name: Nilay Narendra Bhai Dhruv</a:t>
          </a:r>
        </a:p>
      </dsp:txBody>
      <dsp:txXfrm>
        <a:off x="310463" y="201192"/>
        <a:ext cx="6521447" cy="402208"/>
      </dsp:txXfrm>
    </dsp:sp>
    <dsp:sp modelId="{889069C9-91FA-476B-B536-23BB66E7F4DA}">
      <dsp:nvSpPr>
        <dsp:cNvPr id="0" name=""/>
        <dsp:cNvSpPr/>
      </dsp:nvSpPr>
      <dsp:spPr>
        <a:xfrm>
          <a:off x="59083" y="150916"/>
          <a:ext cx="502760" cy="502760"/>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8EC33C9-B46C-4D40-AC3F-B4834AEC4917}">
      <dsp:nvSpPr>
        <dsp:cNvPr id="0" name=""/>
        <dsp:cNvSpPr/>
      </dsp:nvSpPr>
      <dsp:spPr>
        <a:xfrm>
          <a:off x="674699" y="804859"/>
          <a:ext cx="6157210" cy="40220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9253" tIns="55880" rIns="55880" bIns="55880" numCol="1" spcCol="1270" anchor="ctr" anchorCtr="0">
          <a:noAutofit/>
        </a:bodyPr>
        <a:lstStyle/>
        <a:p>
          <a:pPr marL="0" lvl="0" indent="0" algn="l"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Roll Number: 92300957018</a:t>
          </a:r>
        </a:p>
      </dsp:txBody>
      <dsp:txXfrm>
        <a:off x="674699" y="804859"/>
        <a:ext cx="6157210" cy="402208"/>
      </dsp:txXfrm>
    </dsp:sp>
    <dsp:sp modelId="{8ECDB02D-0D63-4E3F-858C-497BD51159C8}">
      <dsp:nvSpPr>
        <dsp:cNvPr id="0" name=""/>
        <dsp:cNvSpPr/>
      </dsp:nvSpPr>
      <dsp:spPr>
        <a:xfrm>
          <a:off x="423319" y="754583"/>
          <a:ext cx="502760" cy="502760"/>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9ECA80F-7E69-462A-8E97-9570353D6574}">
      <dsp:nvSpPr>
        <dsp:cNvPr id="0" name=""/>
        <dsp:cNvSpPr/>
      </dsp:nvSpPr>
      <dsp:spPr>
        <a:xfrm>
          <a:off x="874299" y="1408084"/>
          <a:ext cx="5957611" cy="40220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9253" tIns="55880" rIns="55880" bIns="55880" numCol="1" spcCol="1270" anchor="ctr" anchorCtr="0">
          <a:noAutofit/>
        </a:bodyPr>
        <a:lstStyle/>
        <a:p>
          <a:pPr marL="0" lvl="0" indent="0" algn="l"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Semester: 6</a:t>
          </a:r>
          <a:r>
            <a:rPr lang="en-US" sz="2200" b="0" kern="1200" baseline="30000" dirty="0">
              <a:latin typeface="Times New Roman" panose="02020603050405020304" pitchFamily="18" charset="0"/>
              <a:cs typeface="Times New Roman" panose="02020603050405020304" pitchFamily="18" charset="0"/>
            </a:rPr>
            <a:t>th</a:t>
          </a:r>
          <a:r>
            <a:rPr lang="en-US" sz="2200" b="0" kern="1200" dirty="0">
              <a:latin typeface="Times New Roman" panose="02020603050405020304" pitchFamily="18" charset="0"/>
              <a:cs typeface="Times New Roman" panose="02020603050405020304" pitchFamily="18" charset="0"/>
            </a:rPr>
            <a:t> </a:t>
          </a:r>
        </a:p>
      </dsp:txBody>
      <dsp:txXfrm>
        <a:off x="874299" y="1408084"/>
        <a:ext cx="5957611" cy="402208"/>
      </dsp:txXfrm>
    </dsp:sp>
    <dsp:sp modelId="{C886F420-E0CD-47D1-8C8F-6D6D594557F1}">
      <dsp:nvSpPr>
        <dsp:cNvPr id="0" name=""/>
        <dsp:cNvSpPr/>
      </dsp:nvSpPr>
      <dsp:spPr>
        <a:xfrm>
          <a:off x="622918" y="1357808"/>
          <a:ext cx="502760" cy="502760"/>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E431E8D-2AB1-4921-AF34-608ECCCC2CC6}">
      <dsp:nvSpPr>
        <dsp:cNvPr id="0" name=""/>
        <dsp:cNvSpPr/>
      </dsp:nvSpPr>
      <dsp:spPr>
        <a:xfrm>
          <a:off x="938029" y="2011751"/>
          <a:ext cx="5893881" cy="40220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9253" tIns="55880" rIns="55880" bIns="55880" numCol="1" spcCol="1270" anchor="ctr" anchorCtr="0">
          <a:noAutofit/>
        </a:bodyPr>
        <a:lstStyle/>
        <a:p>
          <a:pPr marL="0" lvl="0" indent="0" algn="l"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Subject: </a:t>
          </a:r>
          <a:r>
            <a:rPr lang="en-US" sz="2200" b="0" kern="1200" dirty="0">
              <a:latin typeface="Times New Roman" panose="02020603050405020304" pitchFamily="18" charset="0"/>
              <a:cs typeface="Times New Roman" panose="02020603050405020304" pitchFamily="18" charset="0"/>
              <a:sym typeface="Calibri"/>
            </a:rPr>
            <a:t>PROJECT II (09CT0602)</a:t>
          </a:r>
        </a:p>
      </dsp:txBody>
      <dsp:txXfrm>
        <a:off x="938029" y="2011751"/>
        <a:ext cx="5893881" cy="402208"/>
      </dsp:txXfrm>
    </dsp:sp>
    <dsp:sp modelId="{38EC816E-3654-4794-9DB0-8271D2991825}">
      <dsp:nvSpPr>
        <dsp:cNvPr id="0" name=""/>
        <dsp:cNvSpPr/>
      </dsp:nvSpPr>
      <dsp:spPr>
        <a:xfrm>
          <a:off x="686649" y="1961475"/>
          <a:ext cx="502760" cy="502760"/>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6899EE-3066-4ED6-8AD5-4CB2F69A22C9}">
      <dsp:nvSpPr>
        <dsp:cNvPr id="0" name=""/>
        <dsp:cNvSpPr/>
      </dsp:nvSpPr>
      <dsp:spPr>
        <a:xfrm>
          <a:off x="874299" y="2615418"/>
          <a:ext cx="5957611" cy="40220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9253" tIns="55880" rIns="55880" bIns="55880" numCol="1" spcCol="1270" anchor="ctr" anchorCtr="0">
          <a:noAutofit/>
        </a:bodyPr>
        <a:lstStyle/>
        <a:p>
          <a:pPr marL="0" lvl="0" indent="0" algn="l"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Domain of Project : Web Application </a:t>
          </a:r>
        </a:p>
      </dsp:txBody>
      <dsp:txXfrm>
        <a:off x="874299" y="2615418"/>
        <a:ext cx="5957611" cy="402208"/>
      </dsp:txXfrm>
    </dsp:sp>
    <dsp:sp modelId="{4801581D-4CF9-46C3-B125-7092E319A100}">
      <dsp:nvSpPr>
        <dsp:cNvPr id="0" name=""/>
        <dsp:cNvSpPr/>
      </dsp:nvSpPr>
      <dsp:spPr>
        <a:xfrm>
          <a:off x="622918" y="2565142"/>
          <a:ext cx="502760" cy="502760"/>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90EF7D-2791-46A9-B6D2-D65A08F3C82B}">
      <dsp:nvSpPr>
        <dsp:cNvPr id="0" name=""/>
        <dsp:cNvSpPr/>
      </dsp:nvSpPr>
      <dsp:spPr>
        <a:xfrm>
          <a:off x="674699" y="3218643"/>
          <a:ext cx="6157210" cy="40220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9253" tIns="55880" rIns="55880" bIns="55880" numCol="1" spcCol="1270" anchor="ctr" anchorCtr="0">
          <a:noAutofit/>
        </a:bodyPr>
        <a:lstStyle/>
        <a:p>
          <a:pPr marL="0" lvl="0" indent="0" algn="l"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Title: </a:t>
          </a:r>
          <a:r>
            <a:rPr lang="en-IN" sz="2200" b="0" kern="1200" dirty="0">
              <a:latin typeface="Times New Roman" panose="02020603050405020304" pitchFamily="18" charset="0"/>
              <a:cs typeface="Times New Roman" panose="02020603050405020304" pitchFamily="18" charset="0"/>
            </a:rPr>
            <a:t>Smart Online Exam Monitoring System</a:t>
          </a:r>
          <a:endParaRPr lang="en-US" sz="2200" b="0" kern="1200" dirty="0">
            <a:latin typeface="Times New Roman" panose="02020603050405020304" pitchFamily="18" charset="0"/>
            <a:cs typeface="Times New Roman" panose="02020603050405020304" pitchFamily="18" charset="0"/>
          </a:endParaRPr>
        </a:p>
      </dsp:txBody>
      <dsp:txXfrm>
        <a:off x="674699" y="3218643"/>
        <a:ext cx="6157210" cy="402208"/>
      </dsp:txXfrm>
    </dsp:sp>
    <dsp:sp modelId="{F4332465-11A0-4443-8E1A-9172BA1970B9}">
      <dsp:nvSpPr>
        <dsp:cNvPr id="0" name=""/>
        <dsp:cNvSpPr/>
      </dsp:nvSpPr>
      <dsp:spPr>
        <a:xfrm>
          <a:off x="423319" y="3168367"/>
          <a:ext cx="502760" cy="502760"/>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CD0E823-3D1E-443E-BB99-DE96A58FE5D3}">
      <dsp:nvSpPr>
        <dsp:cNvPr id="0" name=""/>
        <dsp:cNvSpPr/>
      </dsp:nvSpPr>
      <dsp:spPr>
        <a:xfrm>
          <a:off x="310463" y="3822310"/>
          <a:ext cx="6521447" cy="40220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9253" tIns="55880" rIns="55880" bIns="55880" numCol="1" spcCol="1270" anchor="ctr" anchorCtr="0">
          <a:noAutofit/>
        </a:bodyPr>
        <a:lstStyle/>
        <a:p>
          <a:pPr marL="0" lvl="0" indent="0" algn="l"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Guide Name: Prof. Chirag </a:t>
          </a:r>
          <a:r>
            <a:rPr lang="en-IN" sz="2200" kern="1200" dirty="0" err="1">
              <a:latin typeface="Times New Roman" panose="02020603050405020304" pitchFamily="18" charset="0"/>
              <a:cs typeface="Times New Roman" panose="02020603050405020304" pitchFamily="18" charset="0"/>
            </a:rPr>
            <a:t>Visani</a:t>
          </a:r>
          <a:endParaRPr lang="en-IN" sz="2200" kern="1200" dirty="0">
            <a:latin typeface="Times New Roman" panose="02020603050405020304" pitchFamily="18" charset="0"/>
            <a:cs typeface="Times New Roman" panose="02020603050405020304" pitchFamily="18" charset="0"/>
          </a:endParaRPr>
        </a:p>
      </dsp:txBody>
      <dsp:txXfrm>
        <a:off x="310463" y="3822310"/>
        <a:ext cx="6521447" cy="402208"/>
      </dsp:txXfrm>
    </dsp:sp>
    <dsp:sp modelId="{19C3C074-0CBF-4A7E-90B1-95BA727D702D}">
      <dsp:nvSpPr>
        <dsp:cNvPr id="0" name=""/>
        <dsp:cNvSpPr/>
      </dsp:nvSpPr>
      <dsp:spPr>
        <a:xfrm>
          <a:off x="59083" y="3772034"/>
          <a:ext cx="502760" cy="502760"/>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E50E76-9D47-4961-923B-92CE73A641EB}"/>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650A54E-6DB3-4FC1-98E6-29ACAE57D852}"/>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A1BD9E8C-ABCD-4D8D-A100-273191129D4F}" type="datetimeFigureOut">
              <a:rPr lang="en-IN" smtClean="0"/>
              <a:pPr/>
              <a:t>10-02-2026</a:t>
            </a:fld>
            <a:endParaRPr lang="en-IN"/>
          </a:p>
        </p:txBody>
      </p:sp>
      <p:sp>
        <p:nvSpPr>
          <p:cNvPr id="4" name="Footer Placeholder 3">
            <a:extLst>
              <a:ext uri="{FF2B5EF4-FFF2-40B4-BE49-F238E27FC236}">
                <a16:creationId xmlns:a16="http://schemas.microsoft.com/office/drawing/2014/main" id="{93DFB3AC-5B0A-440D-AFBE-D2C4604995DE}"/>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EF2D358-FD7A-4FC3-88A0-A928AC350F36}"/>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433F0E2-EA80-42F6-B80B-F8C03C1BF699}" type="slidenum">
              <a:rPr lang="en-IN" smtClean="0"/>
              <a:pPr/>
              <a:t>‹#›</a:t>
            </a:fld>
            <a:endParaRPr lang="en-IN"/>
          </a:p>
        </p:txBody>
      </p:sp>
    </p:spTree>
    <p:extLst>
      <p:ext uri="{BB962C8B-B14F-4D97-AF65-F5344CB8AC3E}">
        <p14:creationId xmlns:p14="http://schemas.microsoft.com/office/powerpoint/2010/main" val="87410628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5659" cy="49633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0443" y="0"/>
            <a:ext cx="2945659" cy="49633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15153"/>
            <a:ext cx="5438140" cy="446698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583"/>
            <a:ext cx="2945659" cy="496332"/>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0443" y="9428583"/>
            <a:ext cx="2945659" cy="496332"/>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dirty="0"/>
              <a:t>Click to edit Master text styles</a:t>
            </a: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7" name="Rectangle: Rounded Corners 6">
            <a:extLst>
              <a:ext uri="{FF2B5EF4-FFF2-40B4-BE49-F238E27FC236}">
                <a16:creationId xmlns:a16="http://schemas.microsoft.com/office/drawing/2014/main" id="{AFACC4B7-A466-4488-A417-9A9872256530}"/>
              </a:ext>
            </a:extLst>
          </p:cNvPr>
          <p:cNvSpPr/>
          <p:nvPr userDrawn="1"/>
        </p:nvSpPr>
        <p:spPr>
          <a:xfrm>
            <a:off x="1" y="6492874"/>
            <a:ext cx="9144000" cy="365125"/>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DIPLOMA – ICT, MARWADI UNIVERSITY, RAJKOT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pPr lvl="0"/>
            <a:r>
              <a:rPr lang="en-US"/>
              <a:t>Click to edit Master text styles</a:t>
            </a:r>
          </a:p>
        </p:txBody>
      </p:sp>
      <p:sp>
        <p:nvSpPr>
          <p:cNvPr id="7" name="Rectangle: Rounded Corners 6">
            <a:extLst>
              <a:ext uri="{FF2B5EF4-FFF2-40B4-BE49-F238E27FC236}">
                <a16:creationId xmlns:a16="http://schemas.microsoft.com/office/drawing/2014/main" id="{195C08B7-E98B-4F76-85BE-BFEFF18161FC}"/>
              </a:ext>
            </a:extLst>
          </p:cNvPr>
          <p:cNvSpPr/>
          <p:nvPr userDrawn="1"/>
        </p:nvSpPr>
        <p:spPr>
          <a:xfrm>
            <a:off x="0" y="6492875"/>
            <a:ext cx="9144000" cy="365125"/>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DIPLOMA – ICT, MARWADI UNIVERSITY, RAJKOT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Click to edit Master text styles</a:t>
            </a: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Click to edit Master text styles</a:t>
            </a: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Click to edit Master text styles</a:t>
            </a: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Click to edit Master text styles</a:t>
            </a: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Click to edit Master text styles</a:t>
            </a: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Click to edit Master text styles</a:t>
            </a: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pPr lvl="0"/>
            <a:r>
              <a:rPr lang="en-US"/>
              <a:t>Click to edit Master text styles</a:t>
            </a: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Click to edit Master text styles</a:t>
            </a: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7" name="Google Shape;67;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Click to edit Master text styles</a:t>
            </a: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4" name="Google Shape;74;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Click to edit Master text styles</a:t>
            </a: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Click to edit Master text styles</a:t>
            </a: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2" Type="http://schemas.openxmlformats.org/officeDocument/2006/relationships/hyperlink" Target="https://smartonlineexammonitaringsystem-production.up.railway.app/"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evelopers.google.com/mediapipe%20/" TargetMode="External"/><Relationship Id="rId2" Type="http://schemas.openxmlformats.org/officeDocument/2006/relationships/hyperlink" Target="https://flask.palletsprojects.com/" TargetMode="External"/><Relationship Id="rId1" Type="http://schemas.openxmlformats.org/officeDocument/2006/relationships/slideLayout" Target="../slideLayouts/slideLayout2.xml"/><Relationship Id="rId5" Type="http://schemas.openxmlformats.org/officeDocument/2006/relationships/hyperlink" Target="https://docs.python.org/3/" TargetMode="External"/><Relationship Id="rId4" Type="http://schemas.openxmlformats.org/officeDocument/2006/relationships/hyperlink" Target="https://www.sqlite.org/docs.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0" y="1121790"/>
            <a:ext cx="2253006" cy="5627802"/>
          </a:xfrm>
          <a:prstGeom prst="rect">
            <a:avLst/>
          </a:prstGeom>
          <a:solidFill>
            <a:srgbClr val="4BACC6"/>
          </a:solidFill>
          <a:ln>
            <a:solidFill>
              <a:srgbClr val="357D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ounded Rectangle 19"/>
          <p:cNvSpPr/>
          <p:nvPr/>
        </p:nvSpPr>
        <p:spPr>
          <a:xfrm>
            <a:off x="2121031" y="0"/>
            <a:ext cx="7022969" cy="1395167"/>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2000" dirty="0">
                <a:latin typeface="Times New Roman" panose="02020603050405020304" pitchFamily="18" charset="0"/>
                <a:cs typeface="Times New Roman" panose="02020603050405020304" pitchFamily="18" charset="0"/>
              </a:rPr>
              <a:t>Department of Information and Communication Technology</a:t>
            </a:r>
          </a:p>
          <a:p>
            <a:pPr algn="ctr"/>
            <a:r>
              <a:rPr lang="en-IN" sz="2000" dirty="0">
                <a:latin typeface="Times New Roman" panose="02020603050405020304" pitchFamily="18" charset="0"/>
                <a:cs typeface="Times New Roman" panose="02020603050405020304" pitchFamily="18" charset="0"/>
              </a:rPr>
              <a:t>Diploma Studies</a:t>
            </a:r>
          </a:p>
          <a:p>
            <a:pPr algn="ctr"/>
            <a:r>
              <a:rPr lang="en-IN" sz="2000" dirty="0">
                <a:latin typeface="Times New Roman" panose="02020603050405020304" pitchFamily="18" charset="0"/>
                <a:cs typeface="Times New Roman" panose="02020603050405020304" pitchFamily="18" charset="0"/>
              </a:rPr>
              <a:t>Marwadi University</a:t>
            </a:r>
          </a:p>
        </p:txBody>
      </p:sp>
      <p:sp>
        <p:nvSpPr>
          <p:cNvPr id="19" name="Flowchart: Off-page Connector 18"/>
          <p:cNvSpPr/>
          <p:nvPr/>
        </p:nvSpPr>
        <p:spPr>
          <a:xfrm>
            <a:off x="0" y="0"/>
            <a:ext cx="2253006" cy="1725105"/>
          </a:xfrm>
          <a:prstGeom prst="flowChartOffpageConnector">
            <a:avLst/>
          </a:prstGeom>
          <a:ln>
            <a:solidFill>
              <a:srgbClr val="357D9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2" name="Rectangle 21"/>
          <p:cNvSpPr/>
          <p:nvPr/>
        </p:nvSpPr>
        <p:spPr>
          <a:xfrm>
            <a:off x="299446" y="2043503"/>
            <a:ext cx="1685498" cy="18587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Student passport size photo only</a:t>
            </a:r>
          </a:p>
        </p:txBody>
      </p:sp>
      <p:graphicFrame>
        <p:nvGraphicFramePr>
          <p:cNvPr id="28" name="Diagram 27"/>
          <p:cNvGraphicFramePr/>
          <p:nvPr>
            <p:extLst>
              <p:ext uri="{D42A27DB-BD31-4B8C-83A1-F6EECF244321}">
                <p14:modId xmlns:p14="http://schemas.microsoft.com/office/powerpoint/2010/main" val="4006291646"/>
              </p:ext>
            </p:extLst>
          </p:nvPr>
        </p:nvGraphicFramePr>
        <p:xfrm>
          <a:off x="2187018" y="1640437"/>
          <a:ext cx="6890994" cy="4425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C65DD30E-16C7-4ECC-A00B-F5C057B2EC75}"/>
              </a:ext>
            </a:extLst>
          </p:cNvPr>
          <p:cNvPicPr>
            <a:picLocks noChangeAspect="1"/>
          </p:cNvPicPr>
          <p:nvPr/>
        </p:nvPicPr>
        <p:blipFill>
          <a:blip r:embed="rId7"/>
          <a:stretch>
            <a:fillRect/>
          </a:stretch>
        </p:blipFill>
        <p:spPr>
          <a:xfrm>
            <a:off x="-42662" y="340885"/>
            <a:ext cx="2338329" cy="775932"/>
          </a:xfrm>
          <a:prstGeom prst="rect">
            <a:avLst/>
          </a:prstGeom>
        </p:spPr>
      </p:pic>
      <p:pic>
        <p:nvPicPr>
          <p:cNvPr id="14" name="Picture 13" descr="A child with his arms crossed&#10;&#10;AI-generated content may be incorrect.">
            <a:extLst>
              <a:ext uri="{FF2B5EF4-FFF2-40B4-BE49-F238E27FC236}">
                <a16:creationId xmlns:a16="http://schemas.microsoft.com/office/drawing/2014/main" id="{8B444E4F-BDF1-5C09-3E8C-8C1C1DF67DCB}"/>
              </a:ext>
            </a:extLst>
          </p:cNvPr>
          <p:cNvPicPr>
            <a:picLocks noChangeAspect="1"/>
          </p:cNvPicPr>
          <p:nvPr/>
        </p:nvPicPr>
        <p:blipFill>
          <a:blip r:embed="rId8"/>
          <a:stretch>
            <a:fillRect/>
          </a:stretch>
        </p:blipFill>
        <p:spPr>
          <a:xfrm>
            <a:off x="320642" y="2109216"/>
            <a:ext cx="1611720" cy="1744077"/>
          </a:xfrm>
          <a:prstGeom prst="rect">
            <a:avLst/>
          </a:prstGeom>
        </p:spPr>
      </p:pic>
    </p:spTree>
    <p:extLst>
      <p:ext uri="{BB962C8B-B14F-4D97-AF65-F5344CB8AC3E}">
        <p14:creationId xmlns:p14="http://schemas.microsoft.com/office/powerpoint/2010/main" val="2272429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1. Introduction</a:t>
            </a:r>
          </a:p>
        </p:txBody>
      </p:sp>
      <p:sp>
        <p:nvSpPr>
          <p:cNvPr id="7" name="TextBox 6">
            <a:extLst>
              <a:ext uri="{FF2B5EF4-FFF2-40B4-BE49-F238E27FC236}">
                <a16:creationId xmlns:a16="http://schemas.microsoft.com/office/drawing/2014/main" id="{049C9723-75EA-436A-8D1F-AD335E798A03}"/>
              </a:ext>
            </a:extLst>
          </p:cNvPr>
          <p:cNvSpPr txBox="1"/>
          <p:nvPr/>
        </p:nvSpPr>
        <p:spPr>
          <a:xfrm>
            <a:off x="191278" y="1511560"/>
            <a:ext cx="8761444" cy="4413379"/>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Introduction to the Project </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Smart Online Exam Monitoring System is an online examination platform that monitors students during exams using a webcam. It helps conduct exams securely by checking student moment in real time.</a:t>
            </a:r>
          </a:p>
          <a:p>
            <a:endParaRPr lang="en-US" sz="18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Importance in the Current Scenario </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With the increase in online education and remote exams, cheating has become a major concern. Traditional online exams lack proper supervision. This system helps maintain fairness and honesty in online exams.</a:t>
            </a:r>
          </a:p>
          <a:p>
            <a:endParaRPr lang="en-US" sz="18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Real-World Application </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system can be used by schools, colleges, universities, and training institutes to conduct secure online exams. The project was chosen to solve real problems like cheating, and lack of monitoring in online examinations.</a:t>
            </a:r>
          </a:p>
        </p:txBody>
      </p:sp>
    </p:spTree>
    <p:extLst>
      <p:ext uri="{BB962C8B-B14F-4D97-AF65-F5344CB8AC3E}">
        <p14:creationId xmlns:p14="http://schemas.microsoft.com/office/powerpoint/2010/main" val="959612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093C3-D4C7-BBC9-D7D7-011064AD0A1E}"/>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48DEA512-FFC3-73C4-9402-46A03FD014E5}"/>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 Previous Review cards</a:t>
            </a:r>
          </a:p>
        </p:txBody>
      </p:sp>
      <p:pic>
        <p:nvPicPr>
          <p:cNvPr id="3" name="Picture 2">
            <a:extLst>
              <a:ext uri="{FF2B5EF4-FFF2-40B4-BE49-F238E27FC236}">
                <a16:creationId xmlns:a16="http://schemas.microsoft.com/office/drawing/2014/main" id="{AF52E0CD-C3F2-62F9-7178-07865CB40D9E}"/>
              </a:ext>
            </a:extLst>
          </p:cNvPr>
          <p:cNvPicPr>
            <a:picLocks noChangeAspect="1"/>
          </p:cNvPicPr>
          <p:nvPr/>
        </p:nvPicPr>
        <p:blipFill>
          <a:blip r:embed="rId2"/>
          <a:stretch>
            <a:fillRect/>
          </a:stretch>
        </p:blipFill>
        <p:spPr>
          <a:xfrm>
            <a:off x="2473117" y="909655"/>
            <a:ext cx="3965509" cy="5394406"/>
          </a:xfrm>
          <a:prstGeom prst="rect">
            <a:avLst/>
          </a:prstGeom>
        </p:spPr>
      </p:pic>
      <p:sp>
        <p:nvSpPr>
          <p:cNvPr id="2" name="TextBox 1">
            <a:extLst>
              <a:ext uri="{FF2B5EF4-FFF2-40B4-BE49-F238E27FC236}">
                <a16:creationId xmlns:a16="http://schemas.microsoft.com/office/drawing/2014/main" id="{C7D66853-98EF-2CC8-C7C6-04D2118FB04D}"/>
              </a:ext>
            </a:extLst>
          </p:cNvPr>
          <p:cNvSpPr txBox="1"/>
          <p:nvPr/>
        </p:nvSpPr>
        <p:spPr>
          <a:xfrm>
            <a:off x="3513480" y="6243480"/>
            <a:ext cx="1884784" cy="307777"/>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Review Card 1</a:t>
            </a:r>
          </a:p>
        </p:txBody>
      </p:sp>
    </p:spTree>
    <p:extLst>
      <p:ext uri="{BB962C8B-B14F-4D97-AF65-F5344CB8AC3E}">
        <p14:creationId xmlns:p14="http://schemas.microsoft.com/office/powerpoint/2010/main" val="2544212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2. Problem Statement</a:t>
            </a:r>
          </a:p>
        </p:txBody>
      </p:sp>
      <p:sp>
        <p:nvSpPr>
          <p:cNvPr id="7" name="TextBox 6">
            <a:extLst>
              <a:ext uri="{FF2B5EF4-FFF2-40B4-BE49-F238E27FC236}">
                <a16:creationId xmlns:a16="http://schemas.microsoft.com/office/drawing/2014/main" id="{049C9723-75EA-436A-8D1F-AD335E798A03}"/>
              </a:ext>
            </a:extLst>
          </p:cNvPr>
          <p:cNvSpPr txBox="1"/>
          <p:nvPr/>
        </p:nvSpPr>
        <p:spPr>
          <a:xfrm>
            <a:off x="127923" y="1473276"/>
            <a:ext cx="8888154" cy="4247317"/>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Problem Definition</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Online exams often lack proper supervision, which makes it easy for students to cheat by looking away, switching tabs, or letting someone else take the exam. There is no reliable way to monitor students remotely.</a:t>
            </a:r>
          </a:p>
          <a:p>
            <a:endParaRPr lang="en-US" sz="18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Scope and Boundaries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project focuses on monitoring students during online exams using a webcam and browser activity. It detects face absence, head movement, and tab </a:t>
            </a:r>
            <a:r>
              <a:rPr lang="en-US" sz="1800" dirty="0" err="1">
                <a:latin typeface="Times New Roman" panose="02020603050405020304" pitchFamily="18" charset="0"/>
                <a:cs typeface="Times New Roman" panose="02020603050405020304" pitchFamily="18" charset="0"/>
              </a:rPr>
              <a:t>switching.It</a:t>
            </a:r>
            <a:r>
              <a:rPr lang="en-US" sz="1800" dirty="0">
                <a:latin typeface="Times New Roman" panose="02020603050405020304" pitchFamily="18" charset="0"/>
                <a:cs typeface="Times New Roman" panose="02020603050405020304" pitchFamily="18" charset="0"/>
              </a:rPr>
              <a:t> does not deal with physical exam centers or offline examinations.</a:t>
            </a:r>
          </a:p>
          <a:p>
            <a:endParaRPr lang="en-US" sz="18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Significance of the Problem</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Ensuring fairness and honesty in online exams is very important for education systems. Without proper monitoring, exam results may not be trustworthy. Solving this problem helps maintain exam integrity and improves the credibility of online assessments.</a:t>
            </a:r>
          </a:p>
        </p:txBody>
      </p:sp>
    </p:spTree>
    <p:extLst>
      <p:ext uri="{BB962C8B-B14F-4D97-AF65-F5344CB8AC3E}">
        <p14:creationId xmlns:p14="http://schemas.microsoft.com/office/powerpoint/2010/main" val="324072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3. Literature Survey</a:t>
            </a:r>
          </a:p>
        </p:txBody>
      </p:sp>
      <p:sp>
        <p:nvSpPr>
          <p:cNvPr id="7" name="TextBox 6">
            <a:extLst>
              <a:ext uri="{FF2B5EF4-FFF2-40B4-BE49-F238E27FC236}">
                <a16:creationId xmlns:a16="http://schemas.microsoft.com/office/drawing/2014/main" id="{049C9723-75EA-436A-8D1F-AD335E798A03}"/>
              </a:ext>
            </a:extLst>
          </p:cNvPr>
          <p:cNvSpPr txBox="1"/>
          <p:nvPr/>
        </p:nvSpPr>
        <p:spPr>
          <a:xfrm>
            <a:off x="164968" y="1230451"/>
            <a:ext cx="8801750" cy="480131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Overview of Existing Systems</a:t>
            </a: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Several online exam Monitoring systems already exist to monitor students during online exams. These systems mainly focus on webcam monitoring, screen recording, or AI-based behavior analysis.</a:t>
            </a:r>
          </a:p>
          <a:p>
            <a:endParaRPr lang="en-US" sz="18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Methods Used in Existing Solutions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Some systems use live human proctors to watch students through webcams.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Some use AI-based face detection to check if the student is present.</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Other tools monitor screen activity, such as tab switching or opening other applications.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 few systems record the entire exam session for later review.</a:t>
            </a:r>
          </a:p>
          <a:p>
            <a:endParaRPr lang="en-US" sz="18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Gaps and Limitations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Human proctoring is costly and time-consuming.</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Some AI systems only detect face presence and do not track head movement or behavior.</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Many systems are heavy, require high internet speed, or are difficult to deploy.</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Limited automation in warning and exam termination.</a:t>
            </a:r>
          </a:p>
        </p:txBody>
      </p:sp>
    </p:spTree>
    <p:extLst>
      <p:ext uri="{BB962C8B-B14F-4D97-AF65-F5344CB8AC3E}">
        <p14:creationId xmlns:p14="http://schemas.microsoft.com/office/powerpoint/2010/main" val="4005253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D6132-BEE4-CF3A-250D-9C4DC602F920}"/>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3E01D2FE-633D-EEFC-48C4-5E48A43D42E8}"/>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3. Literature Survey</a:t>
            </a:r>
          </a:p>
        </p:txBody>
      </p:sp>
      <p:graphicFrame>
        <p:nvGraphicFramePr>
          <p:cNvPr id="2" name="Table 1">
            <a:extLst>
              <a:ext uri="{FF2B5EF4-FFF2-40B4-BE49-F238E27FC236}">
                <a16:creationId xmlns:a16="http://schemas.microsoft.com/office/drawing/2014/main" id="{CEEA4683-8FE2-3855-9B02-924774F2D641}"/>
              </a:ext>
            </a:extLst>
          </p:cNvPr>
          <p:cNvGraphicFramePr>
            <a:graphicFrameLocks noGrp="1"/>
          </p:cNvGraphicFramePr>
          <p:nvPr>
            <p:extLst>
              <p:ext uri="{D42A27DB-BD31-4B8C-83A1-F6EECF244321}">
                <p14:modId xmlns:p14="http://schemas.microsoft.com/office/powerpoint/2010/main" val="4023727076"/>
              </p:ext>
            </p:extLst>
          </p:nvPr>
        </p:nvGraphicFramePr>
        <p:xfrm>
          <a:off x="88641" y="1268003"/>
          <a:ext cx="8966718" cy="4833680"/>
        </p:xfrm>
        <a:graphic>
          <a:graphicData uri="http://schemas.openxmlformats.org/drawingml/2006/table">
            <a:tbl>
              <a:tblPr>
                <a:tableStyleId>{3C2FFA5D-87B4-456A-9821-1D502468CF0F}</a:tableStyleId>
              </a:tblPr>
              <a:tblGrid>
                <a:gridCol w="2155371">
                  <a:extLst>
                    <a:ext uri="{9D8B030D-6E8A-4147-A177-3AD203B41FA5}">
                      <a16:colId xmlns:a16="http://schemas.microsoft.com/office/drawing/2014/main" val="2140407265"/>
                    </a:ext>
                  </a:extLst>
                </a:gridCol>
                <a:gridCol w="2192694">
                  <a:extLst>
                    <a:ext uri="{9D8B030D-6E8A-4147-A177-3AD203B41FA5}">
                      <a16:colId xmlns:a16="http://schemas.microsoft.com/office/drawing/2014/main" val="1819466170"/>
                    </a:ext>
                  </a:extLst>
                </a:gridCol>
                <a:gridCol w="2206690">
                  <a:extLst>
                    <a:ext uri="{9D8B030D-6E8A-4147-A177-3AD203B41FA5}">
                      <a16:colId xmlns:a16="http://schemas.microsoft.com/office/drawing/2014/main" val="2879631316"/>
                    </a:ext>
                  </a:extLst>
                </a:gridCol>
                <a:gridCol w="2411963">
                  <a:extLst>
                    <a:ext uri="{9D8B030D-6E8A-4147-A177-3AD203B41FA5}">
                      <a16:colId xmlns:a16="http://schemas.microsoft.com/office/drawing/2014/main" val="2969716759"/>
                    </a:ext>
                  </a:extLst>
                </a:gridCol>
              </a:tblGrid>
              <a:tr h="534025">
                <a:tc>
                  <a:txBody>
                    <a:bodyPr/>
                    <a:lstStyle/>
                    <a:p>
                      <a:pPr>
                        <a:buNone/>
                      </a:pPr>
                      <a:r>
                        <a:rPr lang="en-IN" sz="1600" b="1" dirty="0">
                          <a:latin typeface="Times New Roman" panose="02020603050405020304" pitchFamily="18" charset="0"/>
                          <a:cs typeface="Times New Roman" panose="02020603050405020304" pitchFamily="18" charset="0"/>
                        </a:rPr>
                        <a:t>Existing App</a:t>
                      </a:r>
                      <a:endParaRPr lang="en-IN" sz="1600" dirty="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600" b="1">
                          <a:latin typeface="Times New Roman" panose="02020603050405020304" pitchFamily="18" charset="0"/>
                          <a:cs typeface="Times New Roman" panose="02020603050405020304" pitchFamily="18" charset="0"/>
                        </a:rPr>
                        <a:t>What It Does</a:t>
                      </a:r>
                      <a:endParaRPr lang="en-IN" sz="16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600" b="1">
                          <a:latin typeface="Times New Roman" panose="02020603050405020304" pitchFamily="18" charset="0"/>
                          <a:cs typeface="Times New Roman" panose="02020603050405020304" pitchFamily="18" charset="0"/>
                        </a:rPr>
                        <a:t>Problems</a:t>
                      </a:r>
                      <a:endParaRPr lang="en-IN" sz="16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US" sz="1600" b="1">
                          <a:latin typeface="Times New Roman" panose="02020603050405020304" pitchFamily="18" charset="0"/>
                          <a:cs typeface="Times New Roman" panose="02020603050405020304" pitchFamily="18" charset="0"/>
                        </a:rPr>
                        <a:t>How My Project Solves It</a:t>
                      </a:r>
                      <a:endParaRPr lang="en-US" sz="16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4275059054"/>
                  </a:ext>
                </a:extLst>
              </a:tr>
              <a:tr h="664653">
                <a:tc>
                  <a:txBody>
                    <a:bodyPr/>
                    <a:lstStyle/>
                    <a:p>
                      <a:pPr>
                        <a:buNone/>
                      </a:pPr>
                      <a:r>
                        <a:rPr lang="en-IN" sz="1600" b="1" dirty="0">
                          <a:latin typeface="Times New Roman" panose="02020603050405020304" pitchFamily="18" charset="0"/>
                          <a:cs typeface="Times New Roman" panose="02020603050405020304" pitchFamily="18" charset="0"/>
                        </a:rPr>
                        <a:t>Zoom / Google Meet</a:t>
                      </a:r>
                      <a:endParaRPr lang="en-IN" sz="1600" dirty="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US" sz="1600">
                          <a:latin typeface="Times New Roman" panose="02020603050405020304" pitchFamily="18" charset="0"/>
                          <a:cs typeface="Times New Roman" panose="02020603050405020304" pitchFamily="18" charset="0"/>
                        </a:rPr>
                        <a:t>Teacher watches students using webcam</a:t>
                      </a:r>
                    </a:p>
                  </a:txBody>
                  <a:tcPr marL="88744" marR="88744" marT="44372" marB="44372" anchor="ctr"/>
                </a:tc>
                <a:tc>
                  <a:txBody>
                    <a:bodyPr/>
                    <a:lstStyle/>
                    <a:p>
                      <a:pPr>
                        <a:buNone/>
                      </a:pPr>
                      <a:r>
                        <a:rPr lang="en-US" sz="1600">
                          <a:latin typeface="Times New Roman" panose="02020603050405020304" pitchFamily="18" charset="0"/>
                          <a:cs typeface="Times New Roman" panose="02020603050405020304" pitchFamily="18" charset="0"/>
                        </a:rPr>
                        <a:t>Needs many teachers, very costly</a:t>
                      </a:r>
                    </a:p>
                  </a:txBody>
                  <a:tcPr marL="88744" marR="88744" marT="44372" marB="44372" anchor="ctr"/>
                </a:tc>
                <a:tc>
                  <a:txBody>
                    <a:bodyPr/>
                    <a:lstStyle/>
                    <a:p>
                      <a:pPr>
                        <a:buNone/>
                      </a:pPr>
                      <a:r>
                        <a:rPr lang="en-US" sz="1600">
                          <a:latin typeface="Times New Roman" panose="02020603050405020304" pitchFamily="18" charset="0"/>
                          <a:cs typeface="Times New Roman" panose="02020603050405020304" pitchFamily="18" charset="0"/>
                        </a:rPr>
                        <a:t>No human needed, fully automatic</a:t>
                      </a:r>
                    </a:p>
                  </a:txBody>
                  <a:tcPr marL="88744" marR="88744" marT="44372" marB="44372" anchor="ctr"/>
                </a:tc>
                <a:extLst>
                  <a:ext uri="{0D108BD9-81ED-4DB2-BD59-A6C34878D82A}">
                    <a16:rowId xmlns:a16="http://schemas.microsoft.com/office/drawing/2014/main" val="49538809"/>
                  </a:ext>
                </a:extLst>
              </a:tr>
              <a:tr h="664653">
                <a:tc>
                  <a:txBody>
                    <a:bodyPr/>
                    <a:lstStyle/>
                    <a:p>
                      <a:pPr>
                        <a:buNone/>
                      </a:pPr>
                      <a:r>
                        <a:rPr lang="en-IN" sz="1600" b="1" dirty="0" err="1">
                          <a:latin typeface="Times New Roman" panose="02020603050405020304" pitchFamily="18" charset="0"/>
                          <a:cs typeface="Times New Roman" panose="02020603050405020304" pitchFamily="18" charset="0"/>
                        </a:rPr>
                        <a:t>ProctorU</a:t>
                      </a:r>
                      <a:endParaRPr lang="en-IN" sz="1600" dirty="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600" dirty="0">
                          <a:latin typeface="Times New Roman" panose="02020603050405020304" pitchFamily="18" charset="0"/>
                          <a:cs typeface="Times New Roman" panose="02020603050405020304" pitchFamily="18" charset="0"/>
                        </a:rPr>
                        <a:t>AI + human monitoring</a:t>
                      </a:r>
                    </a:p>
                  </a:txBody>
                  <a:tcPr marL="88744" marR="88744" marT="44372" marB="44372" anchor="ctr"/>
                </a:tc>
                <a:tc>
                  <a:txBody>
                    <a:bodyPr/>
                    <a:lstStyle/>
                    <a:p>
                      <a:pPr>
                        <a:buNone/>
                      </a:pPr>
                      <a:r>
                        <a:rPr lang="en-US" sz="1600" dirty="0">
                          <a:latin typeface="Times New Roman" panose="02020603050405020304" pitchFamily="18" charset="0"/>
                          <a:cs typeface="Times New Roman" panose="02020603050405020304" pitchFamily="18" charset="0"/>
                        </a:rPr>
                        <a:t>Paid and expensive</a:t>
                      </a:r>
                    </a:p>
                  </a:txBody>
                  <a:tcPr marL="88744" marR="88744" marT="44372" marB="44372" anchor="ctr"/>
                </a:tc>
                <a:tc>
                  <a:txBody>
                    <a:bodyPr/>
                    <a:lstStyle/>
                    <a:p>
                      <a:pPr>
                        <a:buNone/>
                      </a:pPr>
                      <a:r>
                        <a:rPr lang="en-US" sz="1600">
                          <a:latin typeface="Times New Roman" panose="02020603050405020304" pitchFamily="18" charset="0"/>
                          <a:cs typeface="Times New Roman" panose="02020603050405020304" pitchFamily="18" charset="0"/>
                        </a:rPr>
                        <a:t>Free, simple, and secure system</a:t>
                      </a:r>
                    </a:p>
                  </a:txBody>
                  <a:tcPr marL="88744" marR="88744" marT="44372" marB="44372" anchor="ctr"/>
                </a:tc>
                <a:extLst>
                  <a:ext uri="{0D108BD9-81ED-4DB2-BD59-A6C34878D82A}">
                    <a16:rowId xmlns:a16="http://schemas.microsoft.com/office/drawing/2014/main" val="2744295758"/>
                  </a:ext>
                </a:extLst>
              </a:tr>
              <a:tr h="664653">
                <a:tc>
                  <a:txBody>
                    <a:bodyPr/>
                    <a:lstStyle/>
                    <a:p>
                      <a:pPr>
                        <a:buNone/>
                      </a:pPr>
                      <a:r>
                        <a:rPr lang="en-IN" sz="1600" b="1" dirty="0" err="1">
                          <a:latin typeface="Times New Roman" panose="02020603050405020304" pitchFamily="18" charset="0"/>
                          <a:cs typeface="Times New Roman" panose="02020603050405020304" pitchFamily="18" charset="0"/>
                        </a:rPr>
                        <a:t>Examity</a:t>
                      </a:r>
                      <a:endParaRPr lang="en-IN" sz="1600" dirty="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US" sz="1600">
                          <a:latin typeface="Times New Roman" panose="02020603050405020304" pitchFamily="18" charset="0"/>
                          <a:cs typeface="Times New Roman" panose="02020603050405020304" pitchFamily="18" charset="0"/>
                        </a:rPr>
                        <a:t>Records and reviews student behavior</a:t>
                      </a:r>
                    </a:p>
                  </a:txBody>
                  <a:tcPr marL="88744" marR="88744" marT="44372" marB="44372" anchor="ctr"/>
                </a:tc>
                <a:tc>
                  <a:txBody>
                    <a:bodyPr/>
                    <a:lstStyle/>
                    <a:p>
                      <a:pPr>
                        <a:buNone/>
                      </a:pPr>
                      <a:r>
                        <a:rPr lang="en-US" sz="1600">
                          <a:latin typeface="Times New Roman" panose="02020603050405020304" pitchFamily="18" charset="0"/>
                          <a:cs typeface="Times New Roman" panose="02020603050405020304" pitchFamily="18" charset="0"/>
                        </a:rPr>
                        <a:t>No instant action, slow process</a:t>
                      </a:r>
                    </a:p>
                  </a:txBody>
                  <a:tcPr marL="88744" marR="88744" marT="44372" marB="44372" anchor="ctr"/>
                </a:tc>
                <a:tc>
                  <a:txBody>
                    <a:bodyPr/>
                    <a:lstStyle/>
                    <a:p>
                      <a:pPr>
                        <a:buNone/>
                      </a:pPr>
                      <a:r>
                        <a:rPr lang="en-IN" sz="1600" dirty="0">
                          <a:latin typeface="Times New Roman" panose="02020603050405020304" pitchFamily="18" charset="0"/>
                          <a:cs typeface="Times New Roman" panose="02020603050405020304" pitchFamily="18" charset="0"/>
                        </a:rPr>
                        <a:t>Gives real-time warnings</a:t>
                      </a:r>
                    </a:p>
                  </a:txBody>
                  <a:tcPr marL="88744" marR="88744" marT="44372" marB="44372" anchor="ctr"/>
                </a:tc>
                <a:extLst>
                  <a:ext uri="{0D108BD9-81ED-4DB2-BD59-A6C34878D82A}">
                    <a16:rowId xmlns:a16="http://schemas.microsoft.com/office/drawing/2014/main" val="1789709290"/>
                  </a:ext>
                </a:extLst>
              </a:tr>
              <a:tr h="534025">
                <a:tc>
                  <a:txBody>
                    <a:bodyPr/>
                    <a:lstStyle/>
                    <a:p>
                      <a:pPr>
                        <a:buNone/>
                      </a:pPr>
                      <a:r>
                        <a:rPr lang="en-IN" sz="1600" b="1" dirty="0">
                          <a:latin typeface="Times New Roman" panose="02020603050405020304" pitchFamily="18" charset="0"/>
                          <a:cs typeface="Times New Roman" panose="02020603050405020304" pitchFamily="18" charset="0"/>
                        </a:rPr>
                        <a:t>Mercer Mettl</a:t>
                      </a:r>
                      <a:endParaRPr lang="en-IN" sz="1600" dirty="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600">
                          <a:latin typeface="Times New Roman" panose="02020603050405020304" pitchFamily="18" charset="0"/>
                          <a:cs typeface="Times New Roman" panose="02020603050405020304" pitchFamily="18" charset="0"/>
                        </a:rPr>
                        <a:t>Webcam-based exam monitoring</a:t>
                      </a:r>
                    </a:p>
                  </a:txBody>
                  <a:tcPr marL="88744" marR="88744" marT="44372" marB="44372" anchor="ctr"/>
                </a:tc>
                <a:tc>
                  <a:txBody>
                    <a:bodyPr/>
                    <a:lstStyle/>
                    <a:p>
                      <a:pPr>
                        <a:buNone/>
                      </a:pPr>
                      <a:r>
                        <a:rPr lang="en-IN" sz="1600">
                          <a:latin typeface="Times New Roman" panose="02020603050405020304" pitchFamily="18" charset="0"/>
                          <a:cs typeface="Times New Roman" panose="02020603050405020304" pitchFamily="18" charset="0"/>
                        </a:rPr>
                        <a:t>Heavy system, complex setup</a:t>
                      </a:r>
                    </a:p>
                  </a:txBody>
                  <a:tcPr marL="88744" marR="88744" marT="44372" marB="44372" anchor="ctr"/>
                </a:tc>
                <a:tc>
                  <a:txBody>
                    <a:bodyPr/>
                    <a:lstStyle/>
                    <a:p>
                      <a:pPr>
                        <a:buNone/>
                      </a:pPr>
                      <a:r>
                        <a:rPr lang="en-US" sz="1600">
                          <a:latin typeface="Times New Roman" panose="02020603050405020304" pitchFamily="18" charset="0"/>
                          <a:cs typeface="Times New Roman" panose="02020603050405020304" pitchFamily="18" charset="0"/>
                        </a:rPr>
                        <a:t>Lightweight and easy to use</a:t>
                      </a:r>
                    </a:p>
                  </a:txBody>
                  <a:tcPr marL="88744" marR="88744" marT="44372" marB="44372" anchor="ctr"/>
                </a:tc>
                <a:extLst>
                  <a:ext uri="{0D108BD9-81ED-4DB2-BD59-A6C34878D82A}">
                    <a16:rowId xmlns:a16="http://schemas.microsoft.com/office/drawing/2014/main" val="2077357122"/>
                  </a:ext>
                </a:extLst>
              </a:tr>
              <a:tr h="534025">
                <a:tc>
                  <a:txBody>
                    <a:bodyPr/>
                    <a:lstStyle/>
                    <a:p>
                      <a:pPr>
                        <a:buNone/>
                      </a:pPr>
                      <a:r>
                        <a:rPr lang="en-IN" sz="1600" b="1" dirty="0" err="1">
                          <a:latin typeface="Times New Roman" panose="02020603050405020304" pitchFamily="18" charset="0"/>
                          <a:cs typeface="Times New Roman" panose="02020603050405020304" pitchFamily="18" charset="0"/>
                        </a:rPr>
                        <a:t>LockDown</a:t>
                      </a:r>
                      <a:r>
                        <a:rPr lang="en-IN" sz="1600" b="1" dirty="0">
                          <a:latin typeface="Times New Roman" panose="02020603050405020304" pitchFamily="18" charset="0"/>
                          <a:cs typeface="Times New Roman" panose="02020603050405020304" pitchFamily="18" charset="0"/>
                        </a:rPr>
                        <a:t> Browser</a:t>
                      </a:r>
                      <a:endParaRPr lang="en-IN" sz="1600" dirty="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600">
                          <a:latin typeface="Times New Roman" panose="02020603050405020304" pitchFamily="18" charset="0"/>
                          <a:cs typeface="Times New Roman" panose="02020603050405020304" pitchFamily="18" charset="0"/>
                        </a:rPr>
                        <a:t>Blocks other tabs</a:t>
                      </a:r>
                    </a:p>
                  </a:txBody>
                  <a:tcPr marL="88744" marR="88744" marT="44372" marB="44372" anchor="ctr"/>
                </a:tc>
                <a:tc>
                  <a:txBody>
                    <a:bodyPr/>
                    <a:lstStyle/>
                    <a:p>
                      <a:pPr>
                        <a:buNone/>
                      </a:pPr>
                      <a:r>
                        <a:rPr lang="en-IN" sz="1600">
                          <a:latin typeface="Times New Roman" panose="02020603050405020304" pitchFamily="18" charset="0"/>
                          <a:cs typeface="Times New Roman" panose="02020603050405020304" pitchFamily="18" charset="0"/>
                        </a:rPr>
                        <a:t>No webcam monitoring</a:t>
                      </a:r>
                    </a:p>
                  </a:txBody>
                  <a:tcPr marL="88744" marR="88744" marT="44372" marB="44372" anchor="ctr"/>
                </a:tc>
                <a:tc>
                  <a:txBody>
                    <a:bodyPr/>
                    <a:lstStyle/>
                    <a:p>
                      <a:pPr>
                        <a:buNone/>
                      </a:pPr>
                      <a:r>
                        <a:rPr lang="en-IN" sz="1600">
                          <a:latin typeface="Times New Roman" panose="02020603050405020304" pitchFamily="18" charset="0"/>
                          <a:cs typeface="Times New Roman" panose="02020603050405020304" pitchFamily="18" charset="0"/>
                        </a:rPr>
                        <a:t>Uses webcam + tab detection</a:t>
                      </a:r>
                    </a:p>
                  </a:txBody>
                  <a:tcPr marL="88744" marR="88744" marT="44372" marB="44372" anchor="ctr"/>
                </a:tc>
                <a:extLst>
                  <a:ext uri="{0D108BD9-81ED-4DB2-BD59-A6C34878D82A}">
                    <a16:rowId xmlns:a16="http://schemas.microsoft.com/office/drawing/2014/main" val="474543061"/>
                  </a:ext>
                </a:extLst>
              </a:tr>
              <a:tr h="534025">
                <a:tc>
                  <a:txBody>
                    <a:bodyPr/>
                    <a:lstStyle/>
                    <a:p>
                      <a:pPr>
                        <a:buNone/>
                      </a:pPr>
                      <a:r>
                        <a:rPr lang="en-IN" sz="1600" b="1" dirty="0">
                          <a:latin typeface="Times New Roman" panose="02020603050405020304" pitchFamily="18" charset="0"/>
                          <a:cs typeface="Times New Roman" panose="02020603050405020304" pitchFamily="18" charset="0"/>
                        </a:rPr>
                        <a:t>Google Forms Exams</a:t>
                      </a:r>
                      <a:endParaRPr lang="en-IN" sz="1600" dirty="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600" dirty="0">
                          <a:latin typeface="Times New Roman" panose="02020603050405020304" pitchFamily="18" charset="0"/>
                          <a:cs typeface="Times New Roman" panose="02020603050405020304" pitchFamily="18" charset="0"/>
                        </a:rPr>
                        <a:t>Only login and timer</a:t>
                      </a:r>
                    </a:p>
                  </a:txBody>
                  <a:tcPr marL="88744" marR="88744" marT="44372" marB="44372" anchor="ctr"/>
                </a:tc>
                <a:tc>
                  <a:txBody>
                    <a:bodyPr/>
                    <a:lstStyle/>
                    <a:p>
                      <a:pPr>
                        <a:buNone/>
                      </a:pPr>
                      <a:r>
                        <a:rPr lang="en-IN" sz="1600">
                          <a:latin typeface="Times New Roman" panose="02020603050405020304" pitchFamily="18" charset="0"/>
                          <a:cs typeface="Times New Roman" panose="02020603050405020304" pitchFamily="18" charset="0"/>
                        </a:rPr>
                        <a:t>No security, easy cheating</a:t>
                      </a:r>
                    </a:p>
                  </a:txBody>
                  <a:tcPr marL="88744" marR="88744" marT="44372" marB="44372" anchor="ctr"/>
                </a:tc>
                <a:tc>
                  <a:txBody>
                    <a:bodyPr/>
                    <a:lstStyle/>
                    <a:p>
                      <a:pPr>
                        <a:buNone/>
                      </a:pPr>
                      <a:r>
                        <a:rPr lang="en-IN" sz="1600">
                          <a:latin typeface="Times New Roman" panose="02020603050405020304" pitchFamily="18" charset="0"/>
                          <a:cs typeface="Times New Roman" panose="02020603050405020304" pitchFamily="18" charset="0"/>
                        </a:rPr>
                        <a:t>Full monitoring during exam</a:t>
                      </a:r>
                    </a:p>
                  </a:txBody>
                  <a:tcPr marL="88744" marR="88744" marT="44372" marB="44372" anchor="ctr"/>
                </a:tc>
                <a:extLst>
                  <a:ext uri="{0D108BD9-81ED-4DB2-BD59-A6C34878D82A}">
                    <a16:rowId xmlns:a16="http://schemas.microsoft.com/office/drawing/2014/main" val="3645343597"/>
                  </a:ext>
                </a:extLst>
              </a:tr>
              <a:tr h="534025">
                <a:tc>
                  <a:txBody>
                    <a:bodyPr/>
                    <a:lstStyle/>
                    <a:p>
                      <a:pPr>
                        <a:buNone/>
                      </a:pPr>
                      <a:r>
                        <a:rPr lang="en-IN" sz="1600" b="1" dirty="0">
                          <a:latin typeface="Times New Roman" panose="02020603050405020304" pitchFamily="18" charset="0"/>
                          <a:cs typeface="Times New Roman" panose="02020603050405020304" pitchFamily="18" charset="0"/>
                        </a:rPr>
                        <a:t>Recorded Proctoring</a:t>
                      </a:r>
                      <a:endParaRPr lang="en-IN" sz="1600" dirty="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US" sz="1600">
                          <a:latin typeface="Times New Roman" panose="02020603050405020304" pitchFamily="18" charset="0"/>
                          <a:cs typeface="Times New Roman" panose="02020603050405020304" pitchFamily="18" charset="0"/>
                        </a:rPr>
                        <a:t>Records exam for later checking</a:t>
                      </a:r>
                    </a:p>
                  </a:txBody>
                  <a:tcPr marL="88744" marR="88744" marT="44372" marB="44372" anchor="ctr"/>
                </a:tc>
                <a:tc>
                  <a:txBody>
                    <a:bodyPr/>
                    <a:lstStyle/>
                    <a:p>
                      <a:pPr>
                        <a:buNone/>
                      </a:pPr>
                      <a:r>
                        <a:rPr lang="en-IN" sz="1600">
                          <a:latin typeface="Times New Roman" panose="02020603050405020304" pitchFamily="18" charset="0"/>
                          <a:cs typeface="Times New Roman" panose="02020603050405020304" pitchFamily="18" charset="0"/>
                        </a:rPr>
                        <a:t>Cheating found after exam</a:t>
                      </a:r>
                    </a:p>
                  </a:txBody>
                  <a:tcPr marL="88744" marR="88744" marT="44372" marB="44372" anchor="ctr"/>
                </a:tc>
                <a:tc>
                  <a:txBody>
                    <a:bodyPr/>
                    <a:lstStyle/>
                    <a:p>
                      <a:pPr>
                        <a:buNone/>
                      </a:pPr>
                      <a:r>
                        <a:rPr lang="en-IN" sz="1600" dirty="0">
                          <a:latin typeface="Times New Roman" panose="02020603050405020304" pitchFamily="18" charset="0"/>
                          <a:cs typeface="Times New Roman" panose="02020603050405020304" pitchFamily="18" charset="0"/>
                        </a:rPr>
                        <a:t>Stops cheating during exam</a:t>
                      </a:r>
                    </a:p>
                  </a:txBody>
                  <a:tcPr marL="88744" marR="88744" marT="44372" marB="44372" anchor="ctr"/>
                </a:tc>
                <a:extLst>
                  <a:ext uri="{0D108BD9-81ED-4DB2-BD59-A6C34878D82A}">
                    <a16:rowId xmlns:a16="http://schemas.microsoft.com/office/drawing/2014/main" val="2452522892"/>
                  </a:ext>
                </a:extLst>
              </a:tr>
            </a:tbl>
          </a:graphicData>
        </a:graphic>
      </p:graphicFrame>
    </p:spTree>
    <p:extLst>
      <p:ext uri="{BB962C8B-B14F-4D97-AF65-F5344CB8AC3E}">
        <p14:creationId xmlns:p14="http://schemas.microsoft.com/office/powerpoint/2010/main" val="1324691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4. Objectives of the Project</a:t>
            </a:r>
          </a:p>
        </p:txBody>
      </p:sp>
      <p:sp>
        <p:nvSpPr>
          <p:cNvPr id="7" name="TextBox 6">
            <a:extLst>
              <a:ext uri="{FF2B5EF4-FFF2-40B4-BE49-F238E27FC236}">
                <a16:creationId xmlns:a16="http://schemas.microsoft.com/office/drawing/2014/main" id="{049C9723-75EA-436A-8D1F-AD335E798A03}"/>
              </a:ext>
            </a:extLst>
          </p:cNvPr>
          <p:cNvSpPr txBox="1"/>
          <p:nvPr/>
        </p:nvSpPr>
        <p:spPr>
          <a:xfrm>
            <a:off x="164968" y="1491707"/>
            <a:ext cx="8979032" cy="3970318"/>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Main Objective</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develop a secure and automated online exam system that monitors students in real time and prevents cheating during online examinations.</a:t>
            </a:r>
          </a:p>
          <a:p>
            <a:endParaRPr lang="en-US" sz="18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Sub-Objectives</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monitor student behavior using webcam and detect suspicious actions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track tab switching and generate automatic warnings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auto-submit or terminate the exam after repeated violations</a:t>
            </a:r>
          </a:p>
          <a:p>
            <a:endParaRPr lang="en-US" sz="18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Uniqueness of the Project</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Fully automated Monitoring without human involvement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Combines webcam monitoring and browser activity tracking</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Lightweight, easy to use, and cost-effective system</a:t>
            </a:r>
          </a:p>
        </p:txBody>
      </p:sp>
    </p:spTree>
    <p:extLst>
      <p:ext uri="{BB962C8B-B14F-4D97-AF65-F5344CB8AC3E}">
        <p14:creationId xmlns:p14="http://schemas.microsoft.com/office/powerpoint/2010/main" val="4197179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5. Proposed Work</a:t>
            </a:r>
          </a:p>
        </p:txBody>
      </p:sp>
      <p:sp>
        <p:nvSpPr>
          <p:cNvPr id="7" name="TextBox 6">
            <a:extLst>
              <a:ext uri="{FF2B5EF4-FFF2-40B4-BE49-F238E27FC236}">
                <a16:creationId xmlns:a16="http://schemas.microsoft.com/office/drawing/2014/main" id="{049C9723-75EA-436A-8D1F-AD335E798A03}"/>
              </a:ext>
            </a:extLst>
          </p:cNvPr>
          <p:cNvSpPr txBox="1"/>
          <p:nvPr/>
        </p:nvSpPr>
        <p:spPr>
          <a:xfrm>
            <a:off x="139542" y="820133"/>
            <a:ext cx="2186346" cy="461665"/>
          </a:xfrm>
          <a:prstGeom prst="rect">
            <a:avLst/>
          </a:prstGeom>
          <a:noFill/>
        </p:spPr>
        <p:txBody>
          <a:bodyPr wrap="square">
            <a:spAutoFit/>
          </a:bodyPr>
          <a:lstStyle/>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Flowchart</a:t>
            </a:r>
          </a:p>
        </p:txBody>
      </p:sp>
      <p:pic>
        <p:nvPicPr>
          <p:cNvPr id="3" name="Picture 2">
            <a:extLst>
              <a:ext uri="{FF2B5EF4-FFF2-40B4-BE49-F238E27FC236}">
                <a16:creationId xmlns:a16="http://schemas.microsoft.com/office/drawing/2014/main" id="{25C3B164-6297-9658-50F7-824BDDC56CD6}"/>
              </a:ext>
            </a:extLst>
          </p:cNvPr>
          <p:cNvPicPr>
            <a:picLocks noChangeAspect="1"/>
          </p:cNvPicPr>
          <p:nvPr/>
        </p:nvPicPr>
        <p:blipFill>
          <a:blip r:embed="rId2"/>
          <a:stretch>
            <a:fillRect/>
          </a:stretch>
        </p:blipFill>
        <p:spPr>
          <a:xfrm>
            <a:off x="2148105" y="895739"/>
            <a:ext cx="5848229" cy="5556728"/>
          </a:xfrm>
          <a:prstGeom prst="rect">
            <a:avLst/>
          </a:prstGeom>
        </p:spPr>
      </p:pic>
    </p:spTree>
    <p:extLst>
      <p:ext uri="{BB962C8B-B14F-4D97-AF65-F5344CB8AC3E}">
        <p14:creationId xmlns:p14="http://schemas.microsoft.com/office/powerpoint/2010/main" val="3217745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D8FC-D8E8-9956-0590-A650D95008E6}"/>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52B88EA1-D35B-5412-96D1-B0D1C5216DE1}"/>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Proposed Work</a:t>
            </a:r>
          </a:p>
        </p:txBody>
      </p:sp>
      <p:sp>
        <p:nvSpPr>
          <p:cNvPr id="7" name="TextBox 6">
            <a:extLst>
              <a:ext uri="{FF2B5EF4-FFF2-40B4-BE49-F238E27FC236}">
                <a16:creationId xmlns:a16="http://schemas.microsoft.com/office/drawing/2014/main" id="{F03650E4-EF0D-B45F-8383-B9BF9C8D724F}"/>
              </a:ext>
            </a:extLst>
          </p:cNvPr>
          <p:cNvSpPr txBox="1"/>
          <p:nvPr/>
        </p:nvSpPr>
        <p:spPr>
          <a:xfrm>
            <a:off x="333931" y="1411335"/>
            <a:ext cx="8476138" cy="2215991"/>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Technologies  Used</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Frontend:</a:t>
            </a:r>
            <a:r>
              <a:rPr lang="en-IN" sz="1800" dirty="0">
                <a:latin typeface="Times New Roman" panose="02020603050405020304" pitchFamily="18" charset="0"/>
                <a:cs typeface="Times New Roman" panose="02020603050405020304" pitchFamily="18" charset="0"/>
              </a:rPr>
              <a:t> HTML, CSS, JavaScript</a:t>
            </a: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Backend:</a:t>
            </a:r>
            <a:r>
              <a:rPr lang="en-IN" sz="1800" dirty="0">
                <a:latin typeface="Times New Roman" panose="02020603050405020304" pitchFamily="18" charset="0"/>
                <a:cs typeface="Times New Roman" panose="02020603050405020304" pitchFamily="18" charset="0"/>
              </a:rPr>
              <a:t> Python Flask</a:t>
            </a: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Database:</a:t>
            </a:r>
            <a:r>
              <a:rPr lang="en-IN" sz="1800" dirty="0">
                <a:latin typeface="Times New Roman" panose="02020603050405020304" pitchFamily="18" charset="0"/>
                <a:cs typeface="Times New Roman" panose="02020603050405020304" pitchFamily="18" charset="0"/>
              </a:rPr>
              <a:t> SQLite</a:t>
            </a: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Webcam Monitoring:</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MediaPipe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FaceMesh</a:t>
            </a:r>
            <a:r>
              <a:rPr lang="en-IN" sz="18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Question Handling:</a:t>
            </a:r>
            <a:r>
              <a:rPr lang="en-IN" sz="1800" dirty="0">
                <a:latin typeface="Times New Roman" panose="02020603050405020304" pitchFamily="18" charset="0"/>
                <a:cs typeface="Times New Roman" panose="02020603050405020304" pitchFamily="18" charset="0"/>
              </a:rPr>
              <a:t> Excel parsing using </a:t>
            </a:r>
            <a:r>
              <a:rPr lang="en-IN" sz="1800" dirty="0" err="1">
                <a:latin typeface="Times New Roman" panose="02020603050405020304" pitchFamily="18" charset="0"/>
                <a:cs typeface="Times New Roman" panose="02020603050405020304" pitchFamily="18" charset="0"/>
              </a:rPr>
              <a:t>openpyxl</a:t>
            </a:r>
            <a:endParaRPr lang="en-IN" sz="18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3" name="Picture 2" descr="A close-up of a computer&#10;&#10;AI-generated content may be incorrect.">
            <a:extLst>
              <a:ext uri="{FF2B5EF4-FFF2-40B4-BE49-F238E27FC236}">
                <a16:creationId xmlns:a16="http://schemas.microsoft.com/office/drawing/2014/main" id="{CDEFB6FE-E3F6-1634-2AAA-DD3522B46B19}"/>
              </a:ext>
            </a:extLst>
          </p:cNvPr>
          <p:cNvPicPr>
            <a:picLocks noChangeAspect="1"/>
          </p:cNvPicPr>
          <p:nvPr/>
        </p:nvPicPr>
        <p:blipFill>
          <a:blip r:embed="rId2"/>
          <a:stretch>
            <a:fillRect/>
          </a:stretch>
        </p:blipFill>
        <p:spPr>
          <a:xfrm>
            <a:off x="5844576" y="1478668"/>
            <a:ext cx="2965493" cy="2081323"/>
          </a:xfrm>
          <a:prstGeom prst="rect">
            <a:avLst/>
          </a:prstGeom>
        </p:spPr>
      </p:pic>
      <p:pic>
        <p:nvPicPr>
          <p:cNvPr id="6" name="Picture 5" descr="A diagram of a system workflow&#10;&#10;AI-generated content may be incorrect.">
            <a:extLst>
              <a:ext uri="{FF2B5EF4-FFF2-40B4-BE49-F238E27FC236}">
                <a16:creationId xmlns:a16="http://schemas.microsoft.com/office/drawing/2014/main" id="{78FB575A-3A11-70F0-3382-777796527E81}"/>
              </a:ext>
            </a:extLst>
          </p:cNvPr>
          <p:cNvPicPr>
            <a:picLocks noChangeAspect="1"/>
          </p:cNvPicPr>
          <p:nvPr/>
        </p:nvPicPr>
        <p:blipFill>
          <a:blip r:embed="rId3"/>
          <a:stretch>
            <a:fillRect/>
          </a:stretch>
        </p:blipFill>
        <p:spPr>
          <a:xfrm>
            <a:off x="217320" y="4218528"/>
            <a:ext cx="8592749" cy="1638529"/>
          </a:xfrm>
          <a:prstGeom prst="rect">
            <a:avLst/>
          </a:prstGeom>
        </p:spPr>
      </p:pic>
      <p:sp>
        <p:nvSpPr>
          <p:cNvPr id="12" name="Rectangle 11">
            <a:extLst>
              <a:ext uri="{FF2B5EF4-FFF2-40B4-BE49-F238E27FC236}">
                <a16:creationId xmlns:a16="http://schemas.microsoft.com/office/drawing/2014/main" id="{B58B965D-258A-C280-6F9B-D7A2A86CC0F6}"/>
              </a:ext>
            </a:extLst>
          </p:cNvPr>
          <p:cNvSpPr/>
          <p:nvPr/>
        </p:nvSpPr>
        <p:spPr>
          <a:xfrm>
            <a:off x="1869440" y="5341208"/>
            <a:ext cx="1188720" cy="264160"/>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2"/>
                </a:solidFill>
              </a:rPr>
              <a:t>Face detection </a:t>
            </a:r>
            <a:endParaRPr lang="en-IN" sz="1100" b="1" dirty="0">
              <a:solidFill>
                <a:schemeClr val="bg2"/>
              </a:solidFill>
            </a:endParaRPr>
          </a:p>
        </p:txBody>
      </p:sp>
      <p:sp>
        <p:nvSpPr>
          <p:cNvPr id="13" name="Rectangle 12">
            <a:extLst>
              <a:ext uri="{FF2B5EF4-FFF2-40B4-BE49-F238E27FC236}">
                <a16:creationId xmlns:a16="http://schemas.microsoft.com/office/drawing/2014/main" id="{6658AD48-4B0A-6B78-17BD-61C0C5209813}"/>
              </a:ext>
            </a:extLst>
          </p:cNvPr>
          <p:cNvSpPr/>
          <p:nvPr/>
        </p:nvSpPr>
        <p:spPr>
          <a:xfrm>
            <a:off x="5286438" y="5341208"/>
            <a:ext cx="1116276" cy="299720"/>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2"/>
                </a:solidFill>
              </a:rPr>
              <a:t>Detect Other activities  </a:t>
            </a:r>
            <a:endParaRPr lang="en-IN" sz="1100" b="1" dirty="0">
              <a:solidFill>
                <a:schemeClr val="bg2"/>
              </a:solidFill>
            </a:endParaRPr>
          </a:p>
        </p:txBody>
      </p:sp>
    </p:spTree>
    <p:extLst>
      <p:ext uri="{BB962C8B-B14F-4D97-AF65-F5344CB8AC3E}">
        <p14:creationId xmlns:p14="http://schemas.microsoft.com/office/powerpoint/2010/main" val="3360440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6. Work Plan &amp; Timeline</a:t>
            </a:r>
          </a:p>
        </p:txBody>
      </p:sp>
      <p:pic>
        <p:nvPicPr>
          <p:cNvPr id="13" name="Picture 12" descr="A graph with blue rectangles&#10;&#10;AI-generated content may be incorrect.">
            <a:extLst>
              <a:ext uri="{FF2B5EF4-FFF2-40B4-BE49-F238E27FC236}">
                <a16:creationId xmlns:a16="http://schemas.microsoft.com/office/drawing/2014/main" id="{247F36F8-C2A3-C9FB-FF38-AA132B580414}"/>
              </a:ext>
            </a:extLst>
          </p:cNvPr>
          <p:cNvPicPr>
            <a:picLocks noChangeAspect="1"/>
          </p:cNvPicPr>
          <p:nvPr/>
        </p:nvPicPr>
        <p:blipFill>
          <a:blip r:embed="rId2"/>
          <a:stretch>
            <a:fillRect/>
          </a:stretch>
        </p:blipFill>
        <p:spPr>
          <a:xfrm>
            <a:off x="0" y="1443517"/>
            <a:ext cx="9144000" cy="4250890"/>
          </a:xfrm>
          <a:prstGeom prst="rect">
            <a:avLst/>
          </a:prstGeom>
        </p:spPr>
      </p:pic>
    </p:spTree>
    <p:extLst>
      <p:ext uri="{BB962C8B-B14F-4D97-AF65-F5344CB8AC3E}">
        <p14:creationId xmlns:p14="http://schemas.microsoft.com/office/powerpoint/2010/main" val="3522552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B36EF-15AF-7502-C941-5A5B730EC5E2}"/>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01D3B892-5B83-B19F-C548-8A1FDB021B92}"/>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Work Plan &amp; Timeline</a:t>
            </a:r>
          </a:p>
        </p:txBody>
      </p:sp>
      <p:graphicFrame>
        <p:nvGraphicFramePr>
          <p:cNvPr id="3" name="Table 2">
            <a:extLst>
              <a:ext uri="{FF2B5EF4-FFF2-40B4-BE49-F238E27FC236}">
                <a16:creationId xmlns:a16="http://schemas.microsoft.com/office/drawing/2014/main" id="{5E250395-553B-5E71-604C-672A27898DF1}"/>
              </a:ext>
            </a:extLst>
          </p:cNvPr>
          <p:cNvGraphicFramePr>
            <a:graphicFrameLocks noGrp="1"/>
          </p:cNvGraphicFramePr>
          <p:nvPr>
            <p:extLst>
              <p:ext uri="{D42A27DB-BD31-4B8C-83A1-F6EECF244321}">
                <p14:modId xmlns:p14="http://schemas.microsoft.com/office/powerpoint/2010/main" val="1706671093"/>
              </p:ext>
            </p:extLst>
          </p:nvPr>
        </p:nvGraphicFramePr>
        <p:xfrm>
          <a:off x="132080" y="1280160"/>
          <a:ext cx="8940800" cy="4714247"/>
        </p:xfrm>
        <a:graphic>
          <a:graphicData uri="http://schemas.openxmlformats.org/drawingml/2006/table">
            <a:tbl>
              <a:tblPr>
                <a:tableStyleId>{3C2FFA5D-87B4-456A-9821-1D502468CF0F}</a:tableStyleId>
              </a:tblPr>
              <a:tblGrid>
                <a:gridCol w="2789014">
                  <a:extLst>
                    <a:ext uri="{9D8B030D-6E8A-4147-A177-3AD203B41FA5}">
                      <a16:colId xmlns:a16="http://schemas.microsoft.com/office/drawing/2014/main" val="3395070406"/>
                    </a:ext>
                  </a:extLst>
                </a:gridCol>
                <a:gridCol w="4252716">
                  <a:extLst>
                    <a:ext uri="{9D8B030D-6E8A-4147-A177-3AD203B41FA5}">
                      <a16:colId xmlns:a16="http://schemas.microsoft.com/office/drawing/2014/main" val="4002388418"/>
                    </a:ext>
                  </a:extLst>
                </a:gridCol>
                <a:gridCol w="1899070">
                  <a:extLst>
                    <a:ext uri="{9D8B030D-6E8A-4147-A177-3AD203B41FA5}">
                      <a16:colId xmlns:a16="http://schemas.microsoft.com/office/drawing/2014/main" val="3800191723"/>
                    </a:ext>
                  </a:extLst>
                </a:gridCol>
              </a:tblGrid>
              <a:tr h="462007">
                <a:tc>
                  <a:txBody>
                    <a:bodyPr/>
                    <a:lstStyle/>
                    <a:p>
                      <a:pPr algn="ctr">
                        <a:buNone/>
                      </a:pPr>
                      <a:r>
                        <a:rPr lang="en-IN" sz="2000" b="1" dirty="0">
                          <a:latin typeface="Times New Roman" panose="02020603050405020304" pitchFamily="18" charset="0"/>
                          <a:cs typeface="Times New Roman" panose="02020603050405020304" pitchFamily="18" charset="0"/>
                        </a:rPr>
                        <a:t>Feature</a:t>
                      </a:r>
                      <a:endParaRPr lang="en-IN" sz="2000" dirty="0">
                        <a:latin typeface="Times New Roman" panose="02020603050405020304" pitchFamily="18" charset="0"/>
                        <a:cs typeface="Times New Roman" panose="02020603050405020304" pitchFamily="18" charset="0"/>
                      </a:endParaRPr>
                    </a:p>
                  </a:txBody>
                  <a:tcPr marL="78034" marR="78034" marT="39017" marB="39017" anchor="ctr"/>
                </a:tc>
                <a:tc>
                  <a:txBody>
                    <a:bodyPr/>
                    <a:lstStyle/>
                    <a:p>
                      <a:pPr algn="ctr">
                        <a:buNone/>
                      </a:pPr>
                      <a:r>
                        <a:rPr lang="en-IN" sz="2000" b="1" dirty="0">
                          <a:latin typeface="Times New Roman" panose="02020603050405020304" pitchFamily="18" charset="0"/>
                          <a:cs typeface="Times New Roman" panose="02020603050405020304" pitchFamily="18" charset="0"/>
                        </a:rPr>
                        <a:t>Description</a:t>
                      </a:r>
                      <a:endParaRPr lang="en-IN" sz="2000" dirty="0">
                        <a:latin typeface="Times New Roman" panose="02020603050405020304" pitchFamily="18" charset="0"/>
                        <a:cs typeface="Times New Roman" panose="02020603050405020304" pitchFamily="18" charset="0"/>
                      </a:endParaRPr>
                    </a:p>
                  </a:txBody>
                  <a:tcPr marL="78034" marR="78034" marT="39017" marB="39017" anchor="ctr"/>
                </a:tc>
                <a:tc>
                  <a:txBody>
                    <a:bodyPr/>
                    <a:lstStyle/>
                    <a:p>
                      <a:pPr algn="ctr">
                        <a:buNone/>
                      </a:pPr>
                      <a:r>
                        <a:rPr lang="en-IN" sz="2000" b="1" dirty="0">
                          <a:latin typeface="Times New Roman" panose="02020603050405020304" pitchFamily="18" charset="0"/>
                          <a:cs typeface="Times New Roman" panose="02020603050405020304" pitchFamily="18" charset="0"/>
                        </a:rPr>
                        <a:t>Status</a:t>
                      </a:r>
                      <a:endParaRPr lang="en-IN" sz="2000" dirty="0">
                        <a:latin typeface="Times New Roman" panose="02020603050405020304" pitchFamily="18" charset="0"/>
                        <a:cs typeface="Times New Roman" panose="02020603050405020304" pitchFamily="18" charset="0"/>
                      </a:endParaRPr>
                    </a:p>
                  </a:txBody>
                  <a:tcPr marL="78034" marR="78034" marT="39017" marB="39017" anchor="ctr"/>
                </a:tc>
                <a:extLst>
                  <a:ext uri="{0D108BD9-81ED-4DB2-BD59-A6C34878D82A}">
                    <a16:rowId xmlns:a16="http://schemas.microsoft.com/office/drawing/2014/main" val="1212680138"/>
                  </a:ext>
                </a:extLst>
              </a:tr>
              <a:tr h="425224">
                <a:tc>
                  <a:txBody>
                    <a:bodyPr/>
                    <a:lstStyle/>
                    <a:p>
                      <a:pPr>
                        <a:buNone/>
                      </a:pPr>
                      <a:r>
                        <a:rPr lang="en-IN" sz="1800" dirty="0">
                          <a:latin typeface="Times New Roman" panose="02020603050405020304" pitchFamily="18" charset="0"/>
                          <a:cs typeface="Times New Roman" panose="02020603050405020304" pitchFamily="18" charset="0"/>
                        </a:rPr>
                        <a:t>User Registration &amp; Login</a:t>
                      </a:r>
                    </a:p>
                  </a:txBody>
                  <a:tcPr marL="78034" marR="78034" marT="39017" marB="39017" anchor="ctr"/>
                </a:tc>
                <a:tc>
                  <a:txBody>
                    <a:bodyPr/>
                    <a:lstStyle/>
                    <a:p>
                      <a:pPr>
                        <a:buNone/>
                      </a:pPr>
                      <a:r>
                        <a:rPr lang="en-US" sz="1800">
                          <a:latin typeface="Times New Roman" panose="02020603050405020304" pitchFamily="18" charset="0"/>
                          <a:cs typeface="Times New Roman" panose="02020603050405020304" pitchFamily="18" charset="0"/>
                        </a:rPr>
                        <a:t>Secure login for admin and students</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1006710215"/>
                  </a:ext>
                </a:extLst>
              </a:tr>
              <a:tr h="425224">
                <a:tc>
                  <a:txBody>
                    <a:bodyPr/>
                    <a:lstStyle/>
                    <a:p>
                      <a:pPr>
                        <a:buNone/>
                      </a:pPr>
                      <a:r>
                        <a:rPr lang="en-IN" sz="1800" dirty="0">
                          <a:latin typeface="Times New Roman" panose="02020603050405020304" pitchFamily="18" charset="0"/>
                          <a:cs typeface="Times New Roman" panose="02020603050405020304" pitchFamily="18" charset="0"/>
                        </a:rPr>
                        <a:t>Admin Exam Creation</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Create and schedule exams</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2109529601"/>
                  </a:ext>
                </a:extLst>
              </a:tr>
              <a:tr h="425224">
                <a:tc>
                  <a:txBody>
                    <a:bodyPr/>
                    <a:lstStyle/>
                    <a:p>
                      <a:pPr>
                        <a:buNone/>
                      </a:pPr>
                      <a:r>
                        <a:rPr lang="en-IN" sz="1800" dirty="0">
                          <a:latin typeface="Times New Roman" panose="02020603050405020304" pitchFamily="18" charset="0"/>
                          <a:cs typeface="Times New Roman" panose="02020603050405020304" pitchFamily="18" charset="0"/>
                        </a:rPr>
                        <a:t>Question Upload</a:t>
                      </a:r>
                    </a:p>
                  </a:txBody>
                  <a:tcPr marL="78034" marR="78034" marT="39017" marB="39017" anchor="ctr"/>
                </a:tc>
                <a:tc>
                  <a:txBody>
                    <a:bodyPr/>
                    <a:lstStyle/>
                    <a:p>
                      <a:pPr>
                        <a:buNone/>
                      </a:pPr>
                      <a:r>
                        <a:rPr lang="en-US" sz="1800" dirty="0">
                          <a:latin typeface="Times New Roman" panose="02020603050405020304" pitchFamily="18" charset="0"/>
                          <a:cs typeface="Times New Roman" panose="02020603050405020304" pitchFamily="18" charset="0"/>
                        </a:rPr>
                        <a:t>Upload Excel files</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3621853515"/>
                  </a:ext>
                </a:extLst>
              </a:tr>
              <a:tr h="425224">
                <a:tc>
                  <a:txBody>
                    <a:bodyPr/>
                    <a:lstStyle/>
                    <a:p>
                      <a:pPr>
                        <a:buNone/>
                      </a:pPr>
                      <a:r>
                        <a:rPr lang="en-IN" sz="1800" dirty="0">
                          <a:latin typeface="Times New Roman" panose="02020603050405020304" pitchFamily="18" charset="0"/>
                          <a:cs typeface="Times New Roman" panose="02020603050405020304" pitchFamily="18" charset="0"/>
                        </a:rPr>
                        <a:t>MCQ Extraction</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Automatic question extraction</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4157436141"/>
                  </a:ext>
                </a:extLst>
              </a:tr>
              <a:tr h="425224">
                <a:tc>
                  <a:txBody>
                    <a:bodyPr/>
                    <a:lstStyle/>
                    <a:p>
                      <a:pPr>
                        <a:buNone/>
                      </a:pPr>
                      <a:r>
                        <a:rPr lang="en-IN" sz="1800" dirty="0">
                          <a:latin typeface="Times New Roman" panose="02020603050405020304" pitchFamily="18" charset="0"/>
                          <a:cs typeface="Times New Roman" panose="02020603050405020304" pitchFamily="18" charset="0"/>
                        </a:rPr>
                        <a:t>Student Exam Interface</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Exam page with timer</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922500441"/>
                  </a:ext>
                </a:extLst>
              </a:tr>
              <a:tr h="425224">
                <a:tc>
                  <a:txBody>
                    <a:bodyPr/>
                    <a:lstStyle/>
                    <a:p>
                      <a:pPr>
                        <a:buNone/>
                      </a:pPr>
                      <a:r>
                        <a:rPr lang="en-IN" sz="1800" dirty="0">
                          <a:latin typeface="Times New Roman" panose="02020603050405020304" pitchFamily="18" charset="0"/>
                          <a:cs typeface="Times New Roman" panose="02020603050405020304" pitchFamily="18" charset="0"/>
                        </a:rPr>
                        <a:t>Face detection</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Face check before exam</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1260229215"/>
                  </a:ext>
                </a:extLst>
              </a:tr>
              <a:tr h="425224">
                <a:tc>
                  <a:txBody>
                    <a:bodyPr/>
                    <a:lstStyle/>
                    <a:p>
                      <a:pPr>
                        <a:buNone/>
                      </a:pPr>
                      <a:r>
                        <a:rPr lang="en-IN" sz="1800" dirty="0">
                          <a:latin typeface="Times New Roman" panose="02020603050405020304" pitchFamily="18" charset="0"/>
                          <a:cs typeface="Times New Roman" panose="02020603050405020304" pitchFamily="18" charset="0"/>
                        </a:rPr>
                        <a:t>Webcam Monitoring</a:t>
                      </a:r>
                    </a:p>
                  </a:txBody>
                  <a:tcPr marL="78034" marR="78034" marT="39017" marB="39017" anchor="ctr"/>
                </a:tc>
                <a:tc>
                  <a:txBody>
                    <a:bodyPr/>
                    <a:lstStyle/>
                    <a:p>
                      <a:pPr>
                        <a:buNone/>
                      </a:pPr>
                      <a:r>
                        <a:rPr lang="en-US" sz="1800" dirty="0">
                          <a:latin typeface="Times New Roman" panose="02020603050405020304" pitchFamily="18" charset="0"/>
                          <a:cs typeface="Times New Roman" panose="02020603050405020304" pitchFamily="18" charset="0"/>
                        </a:rPr>
                        <a:t>Face presence &amp; head movement detection</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1395717564"/>
                  </a:ext>
                </a:extLst>
              </a:tr>
              <a:tr h="425224">
                <a:tc>
                  <a:txBody>
                    <a:bodyPr/>
                    <a:lstStyle/>
                    <a:p>
                      <a:pPr>
                        <a:buNone/>
                      </a:pPr>
                      <a:r>
                        <a:rPr lang="en-IN" sz="1800" dirty="0">
                          <a:latin typeface="Times New Roman" panose="02020603050405020304" pitchFamily="18" charset="0"/>
                          <a:cs typeface="Times New Roman" panose="02020603050405020304" pitchFamily="18" charset="0"/>
                        </a:rPr>
                        <a:t>Tab Switch Detection</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Detect browser tab switching</a:t>
                      </a:r>
                    </a:p>
                  </a:txBody>
                  <a:tcPr marL="78034" marR="78034" marT="39017" marB="39017" anchor="ctr"/>
                </a:tc>
                <a:tc>
                  <a:txBody>
                    <a:bodyPr/>
                    <a:lstStyle/>
                    <a:p>
                      <a:pPr>
                        <a:buNone/>
                      </a:pPr>
                      <a:r>
                        <a:rPr lang="en-IN" sz="1800" dirty="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1672255476"/>
                  </a:ext>
                </a:extLst>
              </a:tr>
              <a:tr h="425224">
                <a:tc>
                  <a:txBody>
                    <a:bodyPr/>
                    <a:lstStyle/>
                    <a:p>
                      <a:pPr>
                        <a:buNone/>
                      </a:pPr>
                      <a:r>
                        <a:rPr lang="en-IN" sz="1800" dirty="0">
                          <a:latin typeface="Times New Roman" panose="02020603050405020304" pitchFamily="18" charset="0"/>
                          <a:cs typeface="Times New Roman" panose="02020603050405020304" pitchFamily="18" charset="0"/>
                        </a:rPr>
                        <a:t>Warning System</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Auto warnings for violations</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2739146282"/>
                  </a:ext>
                </a:extLst>
              </a:tr>
              <a:tr h="425224">
                <a:tc>
                  <a:txBody>
                    <a:bodyPr/>
                    <a:lstStyle/>
                    <a:p>
                      <a:pPr>
                        <a:buNone/>
                      </a:pPr>
                      <a:r>
                        <a:rPr lang="en-IN" sz="1800" dirty="0">
                          <a:latin typeface="Times New Roman" panose="02020603050405020304" pitchFamily="18" charset="0"/>
                          <a:cs typeface="Times New Roman" panose="02020603050405020304" pitchFamily="18" charset="0"/>
                        </a:rPr>
                        <a:t>Auto Exam Submission</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Auto-submit after violations</a:t>
                      </a:r>
                    </a:p>
                  </a:txBody>
                  <a:tcPr marL="78034" marR="78034" marT="39017" marB="39017" anchor="ctr"/>
                </a:tc>
                <a:tc>
                  <a:txBody>
                    <a:bodyPr/>
                    <a:lstStyle/>
                    <a:p>
                      <a:pPr>
                        <a:buNone/>
                      </a:pPr>
                      <a:r>
                        <a:rPr lang="en-IN" sz="1800" dirty="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1493194805"/>
                  </a:ext>
                </a:extLst>
              </a:tr>
            </a:tbl>
          </a:graphicData>
        </a:graphic>
      </p:graphicFrame>
    </p:spTree>
    <p:extLst>
      <p:ext uri="{BB962C8B-B14F-4D97-AF65-F5344CB8AC3E}">
        <p14:creationId xmlns:p14="http://schemas.microsoft.com/office/powerpoint/2010/main" val="2990375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E1E2B-003D-E6FB-B89F-4DBFCEF5F8B4}"/>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D5C8D2B8-C0A7-17B3-7D5A-6A2970F0FD1C}"/>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Work Plan &amp; Timeline</a:t>
            </a:r>
          </a:p>
        </p:txBody>
      </p:sp>
      <p:graphicFrame>
        <p:nvGraphicFramePr>
          <p:cNvPr id="2" name="Table 1">
            <a:extLst>
              <a:ext uri="{FF2B5EF4-FFF2-40B4-BE49-F238E27FC236}">
                <a16:creationId xmlns:a16="http://schemas.microsoft.com/office/drawing/2014/main" id="{6AC30BD0-39E0-9915-E5B6-AAFF2FF84D41}"/>
              </a:ext>
            </a:extLst>
          </p:cNvPr>
          <p:cNvGraphicFramePr>
            <a:graphicFrameLocks noGrp="1"/>
          </p:cNvGraphicFramePr>
          <p:nvPr>
            <p:extLst>
              <p:ext uri="{D42A27DB-BD31-4B8C-83A1-F6EECF244321}">
                <p14:modId xmlns:p14="http://schemas.microsoft.com/office/powerpoint/2010/main" val="3739096601"/>
              </p:ext>
            </p:extLst>
          </p:nvPr>
        </p:nvGraphicFramePr>
        <p:xfrm>
          <a:off x="185420" y="1600200"/>
          <a:ext cx="8773160" cy="2941320"/>
        </p:xfrm>
        <a:graphic>
          <a:graphicData uri="http://schemas.openxmlformats.org/drawingml/2006/table">
            <a:tbl>
              <a:tblPr>
                <a:tableStyleId>{3C2FFA5D-87B4-456A-9821-1D502468CF0F}</a:tableStyleId>
              </a:tblPr>
              <a:tblGrid>
                <a:gridCol w="2697615">
                  <a:extLst>
                    <a:ext uri="{9D8B030D-6E8A-4147-A177-3AD203B41FA5}">
                      <a16:colId xmlns:a16="http://schemas.microsoft.com/office/drawing/2014/main" val="2465244155"/>
                    </a:ext>
                  </a:extLst>
                </a:gridCol>
                <a:gridCol w="3943360">
                  <a:extLst>
                    <a:ext uri="{9D8B030D-6E8A-4147-A177-3AD203B41FA5}">
                      <a16:colId xmlns:a16="http://schemas.microsoft.com/office/drawing/2014/main" val="3528542763"/>
                    </a:ext>
                  </a:extLst>
                </a:gridCol>
                <a:gridCol w="2132185">
                  <a:extLst>
                    <a:ext uri="{9D8B030D-6E8A-4147-A177-3AD203B41FA5}">
                      <a16:colId xmlns:a16="http://schemas.microsoft.com/office/drawing/2014/main" val="3239803348"/>
                    </a:ext>
                  </a:extLst>
                </a:gridCol>
              </a:tblGrid>
              <a:tr h="588264">
                <a:tc>
                  <a:txBody>
                    <a:bodyPr/>
                    <a:lstStyle/>
                    <a:p>
                      <a:pPr>
                        <a:buNone/>
                      </a:pPr>
                      <a:r>
                        <a:rPr lang="en-IN" sz="1800" dirty="0">
                          <a:latin typeface="Times New Roman" panose="02020603050405020304" pitchFamily="18" charset="0"/>
                          <a:cs typeface="Times New Roman" panose="02020603050405020304" pitchFamily="18" charset="0"/>
                        </a:rPr>
                        <a:t>Result Generation</a:t>
                      </a:r>
                    </a:p>
                  </a:txBody>
                  <a:tcPr marL="78034" marR="78034" marT="39017" marB="39017" anchor="ctr"/>
                </a:tc>
                <a:tc>
                  <a:txBody>
                    <a:bodyPr/>
                    <a:lstStyle/>
                    <a:p>
                      <a:pPr>
                        <a:buNone/>
                      </a:pPr>
                      <a:r>
                        <a:rPr lang="en-IN" sz="1800" dirty="0">
                          <a:latin typeface="Times New Roman" panose="02020603050405020304" pitchFamily="18" charset="0"/>
                          <a:cs typeface="Times New Roman" panose="02020603050405020304" pitchFamily="18" charset="0"/>
                        </a:rPr>
                        <a:t>Automatic result calculation</a:t>
                      </a:r>
                    </a:p>
                  </a:txBody>
                  <a:tcPr marL="78034" marR="78034" marT="39017" marB="39017" anchor="ctr"/>
                </a:tc>
                <a:tc>
                  <a:txBody>
                    <a:bodyPr/>
                    <a:lstStyle/>
                    <a:p>
                      <a:pPr>
                        <a:buNone/>
                      </a:pPr>
                      <a:r>
                        <a:rPr lang="en-IN" sz="180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830969655"/>
                  </a:ext>
                </a:extLst>
              </a:tr>
              <a:tr h="588264">
                <a:tc>
                  <a:txBody>
                    <a:bodyPr/>
                    <a:lstStyle/>
                    <a:p>
                      <a:pPr>
                        <a:buNone/>
                      </a:pPr>
                      <a:r>
                        <a:rPr lang="en-IN" sz="1800" dirty="0">
                          <a:latin typeface="Times New Roman" panose="02020603050405020304" pitchFamily="18" charset="0"/>
                          <a:cs typeface="Times New Roman" panose="02020603050405020304" pitchFamily="18" charset="0"/>
                        </a:rPr>
                        <a:t>Violation Logs</a:t>
                      </a:r>
                    </a:p>
                  </a:txBody>
                  <a:tcPr marL="78034" marR="78034" marT="39017" marB="39017" anchor="ctr"/>
                </a:tc>
                <a:tc>
                  <a:txBody>
                    <a:bodyPr/>
                    <a:lstStyle/>
                    <a:p>
                      <a:pPr>
                        <a:buNone/>
                      </a:pPr>
                      <a:r>
                        <a:rPr lang="en-IN" sz="1800" dirty="0">
                          <a:latin typeface="Times New Roman" panose="02020603050405020304" pitchFamily="18" charset="0"/>
                          <a:cs typeface="Times New Roman" panose="02020603050405020304" pitchFamily="18" charset="0"/>
                        </a:rPr>
                        <a:t>Store monitoring logs</a:t>
                      </a:r>
                    </a:p>
                  </a:txBody>
                  <a:tcPr marL="78034" marR="78034" marT="39017" marB="39017" anchor="ctr"/>
                </a:tc>
                <a:tc>
                  <a:txBody>
                    <a:bodyPr/>
                    <a:lstStyle/>
                    <a:p>
                      <a:pPr>
                        <a:buNone/>
                      </a:pPr>
                      <a:r>
                        <a:rPr lang="en-IN" sz="1800" dirty="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2191387428"/>
                  </a:ext>
                </a:extLst>
              </a:tr>
              <a:tr h="588264">
                <a:tc>
                  <a:txBody>
                    <a:bodyPr/>
                    <a:lstStyle/>
                    <a:p>
                      <a:pPr>
                        <a:buNone/>
                      </a:pPr>
                      <a:r>
                        <a:rPr lang="en-IN" sz="1800" dirty="0">
                          <a:latin typeface="Times New Roman" panose="02020603050405020304" pitchFamily="18" charset="0"/>
                          <a:cs typeface="Times New Roman" panose="02020603050405020304" pitchFamily="18" charset="0"/>
                        </a:rPr>
                        <a:t>Admin Reports</a:t>
                      </a:r>
                    </a:p>
                  </a:txBody>
                  <a:tcPr marL="78034" marR="78034" marT="39017" marB="39017" anchor="ctr"/>
                </a:tc>
                <a:tc>
                  <a:txBody>
                    <a:bodyPr/>
                    <a:lstStyle/>
                    <a:p>
                      <a:pPr>
                        <a:buNone/>
                      </a:pPr>
                      <a:r>
                        <a:rPr lang="en-IN" sz="1800" dirty="0">
                          <a:latin typeface="Times New Roman" panose="02020603050405020304" pitchFamily="18" charset="0"/>
                          <a:cs typeface="Times New Roman" panose="02020603050405020304" pitchFamily="18" charset="0"/>
                        </a:rPr>
                        <a:t>View results and violations</a:t>
                      </a:r>
                    </a:p>
                  </a:txBody>
                  <a:tcPr marL="78034" marR="78034" marT="39017" marB="39017" anchor="ctr"/>
                </a:tc>
                <a:tc>
                  <a:txBody>
                    <a:bodyPr/>
                    <a:lstStyle/>
                    <a:p>
                      <a:pPr>
                        <a:buNone/>
                      </a:pPr>
                      <a:r>
                        <a:rPr lang="en-IN" sz="1800" dirty="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3112143255"/>
                  </a:ext>
                </a:extLst>
              </a:tr>
              <a:tr h="588264">
                <a:tc>
                  <a:txBody>
                    <a:bodyPr/>
                    <a:lstStyle/>
                    <a:p>
                      <a:pPr>
                        <a:buNone/>
                      </a:pPr>
                      <a:r>
                        <a:rPr lang="en-IN" sz="1800">
                          <a:latin typeface="Times New Roman" panose="02020603050405020304" pitchFamily="18" charset="0"/>
                          <a:cs typeface="Times New Roman" panose="02020603050405020304" pitchFamily="18" charset="0"/>
                        </a:rPr>
                        <a:t>System Testing</a:t>
                      </a:r>
                    </a:p>
                  </a:txBody>
                  <a:tcPr marL="78034" marR="78034" marT="39017" marB="39017" anchor="ctr"/>
                </a:tc>
                <a:tc>
                  <a:txBody>
                    <a:bodyPr/>
                    <a:lstStyle/>
                    <a:p>
                      <a:pPr>
                        <a:buNone/>
                      </a:pPr>
                      <a:r>
                        <a:rPr lang="en-IN" sz="1800" dirty="0">
                          <a:latin typeface="Times New Roman" panose="02020603050405020304" pitchFamily="18" charset="0"/>
                          <a:cs typeface="Times New Roman" panose="02020603050405020304" pitchFamily="18" charset="0"/>
                        </a:rPr>
                        <a:t>Check all the features</a:t>
                      </a:r>
                    </a:p>
                  </a:txBody>
                  <a:tcPr marL="78034" marR="78034" marT="39017" marB="39017" anchor="ctr"/>
                </a:tc>
                <a:tc>
                  <a:txBody>
                    <a:bodyPr/>
                    <a:lstStyle/>
                    <a:p>
                      <a:pPr>
                        <a:buNone/>
                      </a:pPr>
                      <a:r>
                        <a:rPr lang="en-IN" sz="1800" dirty="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2793290678"/>
                  </a:ext>
                </a:extLst>
              </a:tr>
              <a:tr h="588264">
                <a:tc>
                  <a:txBody>
                    <a:bodyPr/>
                    <a:lstStyle/>
                    <a:p>
                      <a:pPr>
                        <a:buNone/>
                      </a:pPr>
                      <a:r>
                        <a:rPr lang="en-US" sz="1800" dirty="0">
                          <a:latin typeface="Times New Roman" panose="02020603050405020304" pitchFamily="18" charset="0"/>
                          <a:cs typeface="Times New Roman" panose="02020603050405020304" pitchFamily="18" charset="0"/>
                        </a:rPr>
                        <a:t>Deployment </a:t>
                      </a:r>
                      <a:endParaRPr lang="en-IN" sz="1800" dirty="0">
                        <a:latin typeface="Times New Roman" panose="02020603050405020304" pitchFamily="18" charset="0"/>
                        <a:cs typeface="Times New Roman" panose="02020603050405020304" pitchFamily="18" charset="0"/>
                      </a:endParaRPr>
                    </a:p>
                  </a:txBody>
                  <a:tcPr marL="78034" marR="78034" marT="39017" marB="39017" anchor="ctr"/>
                </a:tc>
                <a:tc>
                  <a:txBody>
                    <a:bodyPr/>
                    <a:lstStyle/>
                    <a:p>
                      <a:pPr>
                        <a:buNone/>
                      </a:pPr>
                      <a:r>
                        <a:rPr lang="en-IN" sz="1800" dirty="0">
                          <a:latin typeface="Times New Roman" panose="02020603050405020304" pitchFamily="18" charset="0"/>
                          <a:cs typeface="Times New Roman" panose="02020603050405020304" pitchFamily="18" charset="0"/>
                        </a:rPr>
                        <a:t>Deployed in cloud</a:t>
                      </a:r>
                    </a:p>
                  </a:txBody>
                  <a:tcPr marL="78034" marR="78034" marT="39017" marB="39017"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dirty="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94377956"/>
                  </a:ext>
                </a:extLst>
              </a:tr>
            </a:tbl>
          </a:graphicData>
        </a:graphic>
      </p:graphicFrame>
      <p:graphicFrame>
        <p:nvGraphicFramePr>
          <p:cNvPr id="4" name="Table 3">
            <a:extLst>
              <a:ext uri="{FF2B5EF4-FFF2-40B4-BE49-F238E27FC236}">
                <a16:creationId xmlns:a16="http://schemas.microsoft.com/office/drawing/2014/main" id="{B0601FE3-A749-A551-5515-E1EED5A2D5F9}"/>
              </a:ext>
            </a:extLst>
          </p:cNvPr>
          <p:cNvGraphicFramePr>
            <a:graphicFrameLocks noGrp="1"/>
          </p:cNvGraphicFramePr>
          <p:nvPr>
            <p:extLst>
              <p:ext uri="{D42A27DB-BD31-4B8C-83A1-F6EECF244321}">
                <p14:modId xmlns:p14="http://schemas.microsoft.com/office/powerpoint/2010/main" val="3699266151"/>
              </p:ext>
            </p:extLst>
          </p:nvPr>
        </p:nvGraphicFramePr>
        <p:xfrm>
          <a:off x="185421" y="4541520"/>
          <a:ext cx="8773159" cy="599440"/>
        </p:xfrm>
        <a:graphic>
          <a:graphicData uri="http://schemas.openxmlformats.org/drawingml/2006/table">
            <a:tbl>
              <a:tblPr>
                <a:tableStyleId>{3C2FFA5D-87B4-456A-9821-1D502468CF0F}</a:tableStyleId>
              </a:tblPr>
              <a:tblGrid>
                <a:gridCol w="2697615">
                  <a:extLst>
                    <a:ext uri="{9D8B030D-6E8A-4147-A177-3AD203B41FA5}">
                      <a16:colId xmlns:a16="http://schemas.microsoft.com/office/drawing/2014/main" val="3610693024"/>
                    </a:ext>
                  </a:extLst>
                </a:gridCol>
                <a:gridCol w="3943359">
                  <a:extLst>
                    <a:ext uri="{9D8B030D-6E8A-4147-A177-3AD203B41FA5}">
                      <a16:colId xmlns:a16="http://schemas.microsoft.com/office/drawing/2014/main" val="44296529"/>
                    </a:ext>
                  </a:extLst>
                </a:gridCol>
                <a:gridCol w="2132185">
                  <a:extLst>
                    <a:ext uri="{9D8B030D-6E8A-4147-A177-3AD203B41FA5}">
                      <a16:colId xmlns:a16="http://schemas.microsoft.com/office/drawing/2014/main" val="2582666053"/>
                    </a:ext>
                  </a:extLst>
                </a:gridCol>
              </a:tblGrid>
              <a:tr h="599440">
                <a:tc>
                  <a:txBody>
                    <a:bodyPr/>
                    <a:lstStyle/>
                    <a:p>
                      <a:pPr>
                        <a:buNone/>
                      </a:pPr>
                      <a:r>
                        <a:rPr lang="en-IN" sz="1800" dirty="0">
                          <a:latin typeface="Times New Roman" panose="02020603050405020304" pitchFamily="18" charset="0"/>
                          <a:cs typeface="Times New Roman" panose="02020603050405020304" pitchFamily="18" charset="0"/>
                        </a:rPr>
                        <a:t>Documentation</a:t>
                      </a:r>
                    </a:p>
                  </a:txBody>
                  <a:tcPr marL="78034" marR="78034" marT="39017" marB="39017" anchor="ctr"/>
                </a:tc>
                <a:tc>
                  <a:txBody>
                    <a:bodyPr/>
                    <a:lstStyle/>
                    <a:p>
                      <a:pPr>
                        <a:buNone/>
                      </a:pPr>
                      <a:r>
                        <a:rPr lang="en-IN" sz="1800" dirty="0">
                          <a:latin typeface="Times New Roman" panose="02020603050405020304" pitchFamily="18" charset="0"/>
                          <a:cs typeface="Times New Roman" panose="02020603050405020304" pitchFamily="18" charset="0"/>
                        </a:rPr>
                        <a:t>Report and PPT preparation</a:t>
                      </a:r>
                    </a:p>
                  </a:txBody>
                  <a:tcPr marL="78034" marR="78034" marT="39017" marB="39017"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dirty="0">
                          <a:latin typeface="Times New Roman" panose="02020603050405020304" pitchFamily="18" charset="0"/>
                          <a:cs typeface="Times New Roman" panose="02020603050405020304" pitchFamily="18" charset="0"/>
                        </a:rPr>
                        <a:t>Completed</a:t>
                      </a:r>
                    </a:p>
                  </a:txBody>
                  <a:tcPr marL="78034" marR="78034" marT="39017" marB="39017" anchor="ctr"/>
                </a:tc>
                <a:extLst>
                  <a:ext uri="{0D108BD9-81ED-4DB2-BD59-A6C34878D82A}">
                    <a16:rowId xmlns:a16="http://schemas.microsoft.com/office/drawing/2014/main" val="4158824544"/>
                  </a:ext>
                </a:extLst>
              </a:tr>
            </a:tbl>
          </a:graphicData>
        </a:graphic>
      </p:graphicFrame>
    </p:spTree>
    <p:extLst>
      <p:ext uri="{BB962C8B-B14F-4D97-AF65-F5344CB8AC3E}">
        <p14:creationId xmlns:p14="http://schemas.microsoft.com/office/powerpoint/2010/main" val="3536407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7. Interaction with Guide</a:t>
            </a:r>
          </a:p>
        </p:txBody>
      </p:sp>
      <p:sp>
        <p:nvSpPr>
          <p:cNvPr id="4" name="TextBox 3">
            <a:extLst>
              <a:ext uri="{FF2B5EF4-FFF2-40B4-BE49-F238E27FC236}">
                <a16:creationId xmlns:a16="http://schemas.microsoft.com/office/drawing/2014/main" id="{0D6C131A-DBC6-B67D-C0CB-B11759903C24}"/>
              </a:ext>
            </a:extLst>
          </p:cNvPr>
          <p:cNvSpPr txBox="1"/>
          <p:nvPr/>
        </p:nvSpPr>
        <p:spPr>
          <a:xfrm>
            <a:off x="203200" y="969799"/>
            <a:ext cx="7609840" cy="190821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Meetings:</a:t>
            </a:r>
          </a:p>
          <a:p>
            <a:r>
              <a:rPr lang="en-US" sz="1800" dirty="0">
                <a:latin typeface="Times New Roman" panose="02020603050405020304" pitchFamily="18" charset="0"/>
                <a:cs typeface="Times New Roman" panose="02020603050405020304" pitchFamily="18" charset="0"/>
              </a:rPr>
              <a:t>Met the guide </a:t>
            </a:r>
            <a:r>
              <a:rPr lang="en-US" sz="1800" b="1" dirty="0">
                <a:latin typeface="Times New Roman" panose="02020603050405020304" pitchFamily="18" charset="0"/>
                <a:cs typeface="Times New Roman" panose="02020603050405020304" pitchFamily="18" charset="0"/>
              </a:rPr>
              <a:t>two times in a week</a:t>
            </a:r>
            <a:endParaRPr lang="en-US" sz="1800" dirty="0">
              <a:latin typeface="Times New Roman" panose="02020603050405020304" pitchFamily="18" charset="0"/>
              <a:cs typeface="Times New Roman" panose="02020603050405020304" pitchFamily="18" charset="0"/>
            </a:endParaRPr>
          </a:p>
          <a:p>
            <a:pPr lvl="1"/>
            <a:r>
              <a:rPr lang="en-US" sz="1800" b="1" dirty="0">
                <a:latin typeface="Times New Roman" panose="02020603050405020304" pitchFamily="18" charset="0"/>
                <a:cs typeface="Times New Roman" panose="02020603050405020304" pitchFamily="18" charset="0"/>
              </a:rPr>
              <a:t>One in-person meeting</a:t>
            </a:r>
            <a:endParaRPr lang="en-US" sz="1800" dirty="0">
              <a:latin typeface="Times New Roman" panose="02020603050405020304" pitchFamily="18" charset="0"/>
              <a:cs typeface="Times New Roman" panose="02020603050405020304" pitchFamily="18" charset="0"/>
            </a:endParaRPr>
          </a:p>
          <a:p>
            <a:pPr lvl="1"/>
            <a:r>
              <a:rPr lang="en-US" sz="1800" b="1" dirty="0">
                <a:latin typeface="Times New Roman" panose="02020603050405020304" pitchFamily="18" charset="0"/>
                <a:cs typeface="Times New Roman" panose="02020603050405020304" pitchFamily="18" charset="0"/>
              </a:rPr>
              <a:t>One phone call</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Extra discussions were held during </a:t>
            </a:r>
            <a:r>
              <a:rPr lang="en-US" sz="1800" b="1" dirty="0">
                <a:latin typeface="Times New Roman" panose="02020603050405020304" pitchFamily="18" charset="0"/>
                <a:cs typeface="Times New Roman" panose="02020603050405020304" pitchFamily="18" charset="0"/>
              </a:rPr>
              <a:t>technical issues or important decisions</a:t>
            </a: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BE0F4790-E837-FA3E-BE1B-F9CF06CD4B43}"/>
              </a:ext>
            </a:extLst>
          </p:cNvPr>
          <p:cNvGraphicFramePr>
            <a:graphicFrameLocks noGrp="1"/>
          </p:cNvGraphicFramePr>
          <p:nvPr>
            <p:extLst>
              <p:ext uri="{D42A27DB-BD31-4B8C-83A1-F6EECF244321}">
                <p14:modId xmlns:p14="http://schemas.microsoft.com/office/powerpoint/2010/main" val="4288351054"/>
              </p:ext>
            </p:extLst>
          </p:nvPr>
        </p:nvGraphicFramePr>
        <p:xfrm>
          <a:off x="203200" y="2661920"/>
          <a:ext cx="8737600" cy="3702020"/>
        </p:xfrm>
        <a:graphic>
          <a:graphicData uri="http://schemas.openxmlformats.org/drawingml/2006/table">
            <a:tbl>
              <a:tblPr>
                <a:tableStyleId>{3C2FFA5D-87B4-456A-9821-1D502468CF0F}</a:tableStyleId>
              </a:tblPr>
              <a:tblGrid>
                <a:gridCol w="3191768">
                  <a:extLst>
                    <a:ext uri="{9D8B030D-6E8A-4147-A177-3AD203B41FA5}">
                      <a16:colId xmlns:a16="http://schemas.microsoft.com/office/drawing/2014/main" val="2390900137"/>
                    </a:ext>
                  </a:extLst>
                </a:gridCol>
                <a:gridCol w="5545832">
                  <a:extLst>
                    <a:ext uri="{9D8B030D-6E8A-4147-A177-3AD203B41FA5}">
                      <a16:colId xmlns:a16="http://schemas.microsoft.com/office/drawing/2014/main" val="1483302810"/>
                    </a:ext>
                  </a:extLst>
                </a:gridCol>
              </a:tblGrid>
              <a:tr h="439479">
                <a:tc>
                  <a:txBody>
                    <a:bodyPr/>
                    <a:lstStyle/>
                    <a:p>
                      <a:pPr>
                        <a:buNone/>
                      </a:pPr>
                      <a:r>
                        <a:rPr lang="en-IN" sz="1800" b="1" dirty="0">
                          <a:latin typeface="Times New Roman" panose="02020603050405020304" pitchFamily="18" charset="0"/>
                          <a:cs typeface="Times New Roman" panose="02020603050405020304" pitchFamily="18" charset="0"/>
                        </a:rPr>
                        <a:t>Category</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800" b="1">
                          <a:latin typeface="Times New Roman" panose="02020603050405020304" pitchFamily="18" charset="0"/>
                          <a:cs typeface="Times New Roman" panose="02020603050405020304" pitchFamily="18" charset="0"/>
                        </a:rPr>
                        <a:t>Details</a:t>
                      </a:r>
                      <a:endParaRPr lang="en-IN"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45205653"/>
                  </a:ext>
                </a:extLst>
              </a:tr>
              <a:tr h="1592521">
                <a:tc>
                  <a:txBody>
                    <a:bodyPr/>
                    <a:lstStyle/>
                    <a:p>
                      <a:pPr>
                        <a:buNone/>
                      </a:pPr>
                      <a:r>
                        <a:rPr lang="en-IN" sz="1800" b="1">
                          <a:latin typeface="Times New Roman" panose="02020603050405020304" pitchFamily="18" charset="0"/>
                          <a:cs typeface="Times New Roman" panose="02020603050405020304" pitchFamily="18" charset="0"/>
                        </a:rPr>
                        <a:t>Key Suggestions</a:t>
                      </a:r>
                      <a:endParaRPr lang="en-IN" sz="1800">
                        <a:latin typeface="Times New Roman" panose="02020603050405020304" pitchFamily="18" charset="0"/>
                        <a:cs typeface="Times New Roman" panose="02020603050405020304" pitchFamily="18" charset="0"/>
                      </a:endParaRP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 Keep the exam interface simple and easy to use </a:t>
                      </a:r>
                    </a:p>
                    <a:p>
                      <a:pPr>
                        <a:buNone/>
                      </a:pPr>
                      <a:r>
                        <a:rPr lang="en-US" sz="1800" dirty="0">
                          <a:latin typeface="Times New Roman" panose="02020603050405020304" pitchFamily="18" charset="0"/>
                          <a:cs typeface="Times New Roman" panose="02020603050405020304" pitchFamily="18" charset="0"/>
                        </a:rPr>
                        <a:t>• Focus on real-time monitoring during exams </a:t>
                      </a:r>
                    </a:p>
                    <a:p>
                      <a:pPr>
                        <a:buNone/>
                      </a:pPr>
                      <a:r>
                        <a:rPr lang="en-US" sz="1800" dirty="0">
                          <a:latin typeface="Times New Roman" panose="02020603050405020304" pitchFamily="18" charset="0"/>
                          <a:cs typeface="Times New Roman" panose="02020603050405020304" pitchFamily="18" charset="0"/>
                        </a:rPr>
                        <a:t>• Add automatic warnings for violations </a:t>
                      </a:r>
                    </a:p>
                    <a:p>
                      <a:pPr>
                        <a:buNone/>
                      </a:pPr>
                      <a:r>
                        <a:rPr lang="en-US" sz="1800" dirty="0">
                          <a:latin typeface="Times New Roman" panose="02020603050405020304" pitchFamily="18" charset="0"/>
                          <a:cs typeface="Times New Roman" panose="02020603050405020304" pitchFamily="18" charset="0"/>
                        </a:rPr>
                        <a:t>• Ensure fair and secure examination process </a:t>
                      </a:r>
                    </a:p>
                    <a:p>
                      <a:pPr>
                        <a:buNone/>
                      </a:pPr>
                      <a:r>
                        <a:rPr lang="en-US" sz="1800" dirty="0">
                          <a:latin typeface="Times New Roman" panose="02020603050405020304" pitchFamily="18" charset="0"/>
                          <a:cs typeface="Times New Roman" panose="02020603050405020304" pitchFamily="18" charset="0"/>
                        </a:rPr>
                        <a:t>• Test the system with multiple users</a:t>
                      </a:r>
                    </a:p>
                  </a:txBody>
                  <a:tcPr anchor="ctr"/>
                </a:tc>
                <a:extLst>
                  <a:ext uri="{0D108BD9-81ED-4DB2-BD59-A6C34878D82A}">
                    <a16:rowId xmlns:a16="http://schemas.microsoft.com/office/drawing/2014/main" val="610075715"/>
                  </a:ext>
                </a:extLst>
              </a:tr>
              <a:tr h="1670020">
                <a:tc>
                  <a:txBody>
                    <a:bodyPr/>
                    <a:lstStyle/>
                    <a:p>
                      <a:pPr>
                        <a:buNone/>
                      </a:pPr>
                      <a:r>
                        <a:rPr lang="en-IN" sz="1800" b="1">
                          <a:latin typeface="Times New Roman" panose="02020603050405020304" pitchFamily="18" charset="0"/>
                          <a:cs typeface="Times New Roman" panose="02020603050405020304" pitchFamily="18" charset="0"/>
                        </a:rPr>
                        <a:t>Technical Inputs</a:t>
                      </a:r>
                      <a:endParaRPr lang="en-IN" sz="1800">
                        <a:latin typeface="Times New Roman" panose="02020603050405020304" pitchFamily="18" charset="0"/>
                        <a:cs typeface="Times New Roman" panose="02020603050405020304" pitchFamily="18" charset="0"/>
                      </a:endParaRP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 Use Flask framework for backend development </a:t>
                      </a:r>
                    </a:p>
                    <a:p>
                      <a:pPr>
                        <a:buNone/>
                      </a:pPr>
                      <a:r>
                        <a:rPr lang="en-IN" sz="1800" dirty="0">
                          <a:latin typeface="Times New Roman" panose="02020603050405020304" pitchFamily="18" charset="0"/>
                          <a:cs typeface="Times New Roman" panose="02020603050405020304" pitchFamily="18" charset="0"/>
                        </a:rPr>
                        <a:t>• Use </a:t>
                      </a:r>
                      <a:r>
                        <a:rPr lang="en-IN" sz="1800" dirty="0" err="1">
                          <a:latin typeface="Times New Roman" panose="02020603050405020304" pitchFamily="18" charset="0"/>
                          <a:cs typeface="Times New Roman" panose="02020603050405020304" pitchFamily="18" charset="0"/>
                        </a:rPr>
                        <a:t>MediaPipe</a:t>
                      </a:r>
                      <a:r>
                        <a:rPr lang="en-IN" sz="1800" dirty="0">
                          <a:latin typeface="Times New Roman" panose="02020603050405020304" pitchFamily="18" charset="0"/>
                          <a:cs typeface="Times New Roman" panose="02020603050405020304" pitchFamily="18" charset="0"/>
                        </a:rPr>
                        <a:t> for face detection and monitoring </a:t>
                      </a:r>
                    </a:p>
                    <a:p>
                      <a:pPr>
                        <a:buNone/>
                      </a:pPr>
                      <a:r>
                        <a:rPr lang="en-IN" sz="1800" dirty="0">
                          <a:latin typeface="Times New Roman" panose="02020603050405020304" pitchFamily="18" charset="0"/>
                          <a:cs typeface="Times New Roman" panose="02020603050405020304" pitchFamily="18" charset="0"/>
                        </a:rPr>
                        <a:t>• Implement tab-switch detection using JavaScript </a:t>
                      </a:r>
                    </a:p>
                    <a:p>
                      <a:pPr>
                        <a:buNone/>
                      </a:pPr>
                      <a:r>
                        <a:rPr lang="en-IN" sz="1800" dirty="0">
                          <a:latin typeface="Times New Roman" panose="02020603050405020304" pitchFamily="18" charset="0"/>
                          <a:cs typeface="Times New Roman" panose="02020603050405020304" pitchFamily="18" charset="0"/>
                        </a:rPr>
                        <a:t>• Store data securely using SQLite database </a:t>
                      </a:r>
                    </a:p>
                    <a:p>
                      <a:pPr>
                        <a:buNone/>
                      </a:pPr>
                      <a:r>
                        <a:rPr lang="en-IN" sz="1800" dirty="0">
                          <a:latin typeface="Times New Roman" panose="02020603050405020304" pitchFamily="18" charset="0"/>
                          <a:cs typeface="Times New Roman" panose="02020603050405020304" pitchFamily="18" charset="0"/>
                        </a:rPr>
                        <a:t>• Improve system performance through testing</a:t>
                      </a:r>
                    </a:p>
                  </a:txBody>
                  <a:tcPr anchor="ctr"/>
                </a:tc>
                <a:extLst>
                  <a:ext uri="{0D108BD9-81ED-4DB2-BD59-A6C34878D82A}">
                    <a16:rowId xmlns:a16="http://schemas.microsoft.com/office/drawing/2014/main" val="1625093700"/>
                  </a:ext>
                </a:extLst>
              </a:tr>
            </a:tbl>
          </a:graphicData>
        </a:graphic>
      </p:graphicFrame>
    </p:spTree>
    <p:extLst>
      <p:ext uri="{BB962C8B-B14F-4D97-AF65-F5344CB8AC3E}">
        <p14:creationId xmlns:p14="http://schemas.microsoft.com/office/powerpoint/2010/main" val="2095405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8. Problem Faces</a:t>
            </a:r>
          </a:p>
        </p:txBody>
      </p:sp>
      <p:graphicFrame>
        <p:nvGraphicFramePr>
          <p:cNvPr id="3" name="Table 2">
            <a:extLst>
              <a:ext uri="{FF2B5EF4-FFF2-40B4-BE49-F238E27FC236}">
                <a16:creationId xmlns:a16="http://schemas.microsoft.com/office/drawing/2014/main" id="{AC06D07B-305C-0A16-C9D4-38F22EEFCEAE}"/>
              </a:ext>
            </a:extLst>
          </p:cNvPr>
          <p:cNvGraphicFramePr>
            <a:graphicFrameLocks noGrp="1"/>
          </p:cNvGraphicFramePr>
          <p:nvPr>
            <p:extLst>
              <p:ext uri="{D42A27DB-BD31-4B8C-83A1-F6EECF244321}">
                <p14:modId xmlns:p14="http://schemas.microsoft.com/office/powerpoint/2010/main" val="230416234"/>
              </p:ext>
            </p:extLst>
          </p:nvPr>
        </p:nvGraphicFramePr>
        <p:xfrm>
          <a:off x="210820" y="1498600"/>
          <a:ext cx="8722360" cy="3543343"/>
        </p:xfrm>
        <a:graphic>
          <a:graphicData uri="http://schemas.openxmlformats.org/drawingml/2006/table">
            <a:tbl>
              <a:tblPr>
                <a:tableStyleId>{3C2FFA5D-87B4-456A-9821-1D502468CF0F}</a:tableStyleId>
              </a:tblPr>
              <a:tblGrid>
                <a:gridCol w="4386044">
                  <a:extLst>
                    <a:ext uri="{9D8B030D-6E8A-4147-A177-3AD203B41FA5}">
                      <a16:colId xmlns:a16="http://schemas.microsoft.com/office/drawing/2014/main" val="922434860"/>
                    </a:ext>
                  </a:extLst>
                </a:gridCol>
                <a:gridCol w="4336316">
                  <a:extLst>
                    <a:ext uri="{9D8B030D-6E8A-4147-A177-3AD203B41FA5}">
                      <a16:colId xmlns:a16="http://schemas.microsoft.com/office/drawing/2014/main" val="139176352"/>
                    </a:ext>
                  </a:extLst>
                </a:gridCol>
              </a:tblGrid>
              <a:tr h="295845">
                <a:tc>
                  <a:txBody>
                    <a:bodyPr/>
                    <a:lstStyle/>
                    <a:p>
                      <a:pPr algn="ctr">
                        <a:buNone/>
                      </a:pPr>
                      <a:r>
                        <a:rPr lang="en-IN" sz="1800" b="1" dirty="0">
                          <a:latin typeface="Times New Roman" panose="02020603050405020304" pitchFamily="18" charset="0"/>
                          <a:cs typeface="Times New Roman" panose="02020603050405020304" pitchFamily="18" charset="0"/>
                        </a:rPr>
                        <a:t>Problem Faced</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800" b="1" dirty="0">
                          <a:latin typeface="Times New Roman" panose="02020603050405020304" pitchFamily="18" charset="0"/>
                          <a:cs typeface="Times New Roman" panose="02020603050405020304" pitchFamily="18" charset="0"/>
                        </a:rPr>
                        <a:t>How I Solved It </a:t>
                      </a:r>
                      <a:endParaRPr 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09801211"/>
                  </a:ext>
                </a:extLst>
              </a:tr>
              <a:tr h="739614">
                <a:tc>
                  <a:txBody>
                    <a:bodyPr/>
                    <a:lstStyle/>
                    <a:p>
                      <a:pPr>
                        <a:buNone/>
                      </a:pPr>
                      <a:r>
                        <a:rPr lang="en-US" sz="1800" dirty="0">
                          <a:latin typeface="Times New Roman" panose="02020603050405020304" pitchFamily="18" charset="0"/>
                          <a:cs typeface="Times New Roman" panose="02020603050405020304" pitchFamily="18" charset="0"/>
                        </a:rPr>
                        <a:t>Face not detected properly during the exam</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Improved camera positioning and lighting conditions</a:t>
                      </a:r>
                    </a:p>
                  </a:txBody>
                  <a:tcPr anchor="ctr"/>
                </a:tc>
                <a:extLst>
                  <a:ext uri="{0D108BD9-81ED-4DB2-BD59-A6C34878D82A}">
                    <a16:rowId xmlns:a16="http://schemas.microsoft.com/office/drawing/2014/main" val="2733411598"/>
                  </a:ext>
                </a:extLst>
              </a:tr>
              <a:tr h="517729">
                <a:tc>
                  <a:txBody>
                    <a:bodyPr/>
                    <a:lstStyle/>
                    <a:p>
                      <a:pPr>
                        <a:buNone/>
                      </a:pPr>
                      <a:r>
                        <a:rPr lang="en-US" sz="1800" dirty="0">
                          <a:latin typeface="Times New Roman" panose="02020603050405020304" pitchFamily="18" charset="0"/>
                          <a:cs typeface="Times New Roman" panose="02020603050405020304" pitchFamily="18" charset="0"/>
                        </a:rPr>
                        <a:t>Tab switching not detected properly</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Improved JavaScript event handling and tested on different browsers</a:t>
                      </a:r>
                    </a:p>
                  </a:txBody>
                  <a:tcPr anchor="ctr"/>
                </a:tc>
                <a:extLst>
                  <a:ext uri="{0D108BD9-81ED-4DB2-BD59-A6C34878D82A}">
                    <a16:rowId xmlns:a16="http://schemas.microsoft.com/office/drawing/2014/main" val="952908538"/>
                  </a:ext>
                </a:extLst>
              </a:tr>
              <a:tr h="517729">
                <a:tc>
                  <a:txBody>
                    <a:bodyPr/>
                    <a:lstStyle/>
                    <a:p>
                      <a:pPr>
                        <a:buNone/>
                      </a:pPr>
                      <a:r>
                        <a:rPr lang="en-US" sz="1800">
                          <a:latin typeface="Times New Roman" panose="02020603050405020304" pitchFamily="18" charset="0"/>
                          <a:cs typeface="Times New Roman" panose="02020603050405020304" pitchFamily="18" charset="0"/>
                        </a:rPr>
                        <a:t>Automatic warning count increased even after exam submission</a:t>
                      </a:r>
                    </a:p>
                  </a:txBody>
                  <a:tcPr anchor="ctr"/>
                </a:tc>
                <a:tc>
                  <a:txBody>
                    <a:bodyPr/>
                    <a:lstStyle/>
                    <a:p>
                      <a:pPr>
                        <a:buNone/>
                      </a:pPr>
                      <a:r>
                        <a:rPr lang="en-US" sz="1800">
                          <a:latin typeface="Times New Roman" panose="02020603050405020304" pitchFamily="18" charset="0"/>
                          <a:cs typeface="Times New Roman" panose="02020603050405020304" pitchFamily="18" charset="0"/>
                        </a:rPr>
                        <a:t>Fixed logic to stop monitoring once the exam is submitted</a:t>
                      </a:r>
                    </a:p>
                  </a:txBody>
                  <a:tcPr anchor="ctr"/>
                </a:tc>
                <a:extLst>
                  <a:ext uri="{0D108BD9-81ED-4DB2-BD59-A6C34878D82A}">
                    <a16:rowId xmlns:a16="http://schemas.microsoft.com/office/drawing/2014/main" val="734373887"/>
                  </a:ext>
                </a:extLst>
              </a:tr>
              <a:tr h="517729">
                <a:tc>
                  <a:txBody>
                    <a:bodyPr/>
                    <a:lstStyle/>
                    <a:p>
                      <a:pPr>
                        <a:buNone/>
                      </a:pPr>
                      <a:r>
                        <a:rPr lang="en-US" sz="1800" dirty="0">
                          <a:latin typeface="Times New Roman" panose="02020603050405020304" pitchFamily="18" charset="0"/>
                          <a:cs typeface="Times New Roman" panose="02020603050405020304" pitchFamily="18" charset="0"/>
                        </a:rPr>
                        <a:t>Webcam permission issues </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Helped by </a:t>
                      </a:r>
                      <a:r>
                        <a:rPr lang="en-US" sz="1800" dirty="0" err="1">
                          <a:latin typeface="Times New Roman" panose="02020603050405020304" pitchFamily="18" charset="0"/>
                          <a:cs typeface="Times New Roman" panose="02020603050405020304" pitchFamily="18" charset="0"/>
                        </a:rPr>
                        <a:t>chirag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visani</a:t>
                      </a:r>
                      <a:r>
                        <a:rPr lang="en-US" sz="1800" dirty="0">
                          <a:latin typeface="Times New Roman" panose="02020603050405020304" pitchFamily="18" charset="0"/>
                          <a:cs typeface="Times New Roman" panose="02020603050405020304" pitchFamily="18" charset="0"/>
                        </a:rPr>
                        <a:t> sir</a:t>
                      </a:r>
                    </a:p>
                  </a:txBody>
                  <a:tcPr anchor="ctr"/>
                </a:tc>
                <a:extLst>
                  <a:ext uri="{0D108BD9-81ED-4DB2-BD59-A6C34878D82A}">
                    <a16:rowId xmlns:a16="http://schemas.microsoft.com/office/drawing/2014/main" val="1879839203"/>
                  </a:ext>
                </a:extLst>
              </a:tr>
              <a:tr h="486301">
                <a:tc>
                  <a:txBody>
                    <a:bodyPr/>
                    <a:lstStyle/>
                    <a:p>
                      <a:pPr>
                        <a:buNone/>
                      </a:pPr>
                      <a:r>
                        <a:rPr lang="en-US" sz="1800">
                          <a:latin typeface="Times New Roman" panose="02020603050405020304" pitchFamily="18" charset="0"/>
                          <a:cs typeface="Times New Roman" panose="02020603050405020304" pitchFamily="18" charset="0"/>
                        </a:rPr>
                        <a:t>Performance issues during real-time monitoring</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Optimized code to reduce processing load</a:t>
                      </a:r>
                    </a:p>
                  </a:txBody>
                  <a:tcPr anchor="ctr"/>
                </a:tc>
                <a:extLst>
                  <a:ext uri="{0D108BD9-81ED-4DB2-BD59-A6C34878D82A}">
                    <a16:rowId xmlns:a16="http://schemas.microsoft.com/office/drawing/2014/main" val="2042911266"/>
                  </a:ext>
                </a:extLst>
              </a:tr>
            </a:tbl>
          </a:graphicData>
        </a:graphic>
      </p:graphicFrame>
    </p:spTree>
    <p:extLst>
      <p:ext uri="{BB962C8B-B14F-4D97-AF65-F5344CB8AC3E}">
        <p14:creationId xmlns:p14="http://schemas.microsoft.com/office/powerpoint/2010/main" val="2821629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028C5-99A3-456B-2122-067263CE5AE0}"/>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827BACB6-5008-B694-EFF6-20C00C066D00}"/>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9.Work Done</a:t>
            </a:r>
          </a:p>
        </p:txBody>
      </p:sp>
      <p:pic>
        <p:nvPicPr>
          <p:cNvPr id="4" name="Picture 3" descr="A screenshot of a computer&#10;&#10;AI-generated content may be incorrect.">
            <a:extLst>
              <a:ext uri="{FF2B5EF4-FFF2-40B4-BE49-F238E27FC236}">
                <a16:creationId xmlns:a16="http://schemas.microsoft.com/office/drawing/2014/main" id="{882694E2-9705-B565-3045-090F682A66F5}"/>
              </a:ext>
            </a:extLst>
          </p:cNvPr>
          <p:cNvPicPr>
            <a:picLocks noChangeAspect="1"/>
          </p:cNvPicPr>
          <p:nvPr/>
        </p:nvPicPr>
        <p:blipFill>
          <a:blip r:embed="rId2"/>
          <a:stretch>
            <a:fillRect/>
          </a:stretch>
        </p:blipFill>
        <p:spPr>
          <a:xfrm>
            <a:off x="230154" y="1395199"/>
            <a:ext cx="8696960" cy="4473760"/>
          </a:xfrm>
          <a:prstGeom prst="rect">
            <a:avLst/>
          </a:prstGeom>
        </p:spPr>
      </p:pic>
    </p:spTree>
    <p:extLst>
      <p:ext uri="{BB962C8B-B14F-4D97-AF65-F5344CB8AC3E}">
        <p14:creationId xmlns:p14="http://schemas.microsoft.com/office/powerpoint/2010/main" val="1785534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01E3F-E80E-518D-78FA-77CC55C64074}"/>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85AEBCE8-C87D-E53C-C281-72119626600B}"/>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Admin/Student login</a:t>
            </a:r>
          </a:p>
        </p:txBody>
      </p:sp>
      <p:pic>
        <p:nvPicPr>
          <p:cNvPr id="6" name="Picture 5" descr="A screenshot of a login screen&#10;&#10;AI-generated content may be incorrect.">
            <a:extLst>
              <a:ext uri="{FF2B5EF4-FFF2-40B4-BE49-F238E27FC236}">
                <a16:creationId xmlns:a16="http://schemas.microsoft.com/office/drawing/2014/main" id="{DB033C64-D545-C3C6-D3CE-610003E42F81}"/>
              </a:ext>
            </a:extLst>
          </p:cNvPr>
          <p:cNvPicPr>
            <a:picLocks noChangeAspect="1"/>
          </p:cNvPicPr>
          <p:nvPr/>
        </p:nvPicPr>
        <p:blipFill>
          <a:blip r:embed="rId2"/>
          <a:stretch>
            <a:fillRect/>
          </a:stretch>
        </p:blipFill>
        <p:spPr>
          <a:xfrm>
            <a:off x="4450080" y="1542237"/>
            <a:ext cx="4492627" cy="3739193"/>
          </a:xfrm>
          <a:prstGeom prst="rect">
            <a:avLst/>
          </a:prstGeom>
        </p:spPr>
      </p:pic>
      <p:pic>
        <p:nvPicPr>
          <p:cNvPr id="8" name="Picture 7" descr="A screenshot of a login form&#10;&#10;AI-generated content may be incorrect.">
            <a:extLst>
              <a:ext uri="{FF2B5EF4-FFF2-40B4-BE49-F238E27FC236}">
                <a16:creationId xmlns:a16="http://schemas.microsoft.com/office/drawing/2014/main" id="{FD50A981-8CE0-B5AC-44C7-E5D28FB9A396}"/>
              </a:ext>
            </a:extLst>
          </p:cNvPr>
          <p:cNvPicPr>
            <a:picLocks noChangeAspect="1"/>
          </p:cNvPicPr>
          <p:nvPr/>
        </p:nvPicPr>
        <p:blipFill>
          <a:blip r:embed="rId3"/>
          <a:stretch>
            <a:fillRect/>
          </a:stretch>
        </p:blipFill>
        <p:spPr>
          <a:xfrm>
            <a:off x="129912" y="1559404"/>
            <a:ext cx="3995048" cy="3739192"/>
          </a:xfrm>
          <a:prstGeom prst="rect">
            <a:avLst/>
          </a:prstGeom>
        </p:spPr>
      </p:pic>
    </p:spTree>
    <p:extLst>
      <p:ext uri="{BB962C8B-B14F-4D97-AF65-F5344CB8AC3E}">
        <p14:creationId xmlns:p14="http://schemas.microsoft.com/office/powerpoint/2010/main" val="3559542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81161-F715-FC8C-70F4-C153D8A08A9D}"/>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521BF673-8E7D-597F-D3D1-4E1D4865A96C}"/>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Admin Dashboard</a:t>
            </a:r>
          </a:p>
        </p:txBody>
      </p:sp>
      <p:pic>
        <p:nvPicPr>
          <p:cNvPr id="3" name="Picture 2" descr="A screenshot of a computer&#10;&#10;AI-generated content may be incorrect.">
            <a:extLst>
              <a:ext uri="{FF2B5EF4-FFF2-40B4-BE49-F238E27FC236}">
                <a16:creationId xmlns:a16="http://schemas.microsoft.com/office/drawing/2014/main" id="{74A70F1C-C0B7-7275-0F8C-5698B8B7D530}"/>
              </a:ext>
            </a:extLst>
          </p:cNvPr>
          <p:cNvPicPr>
            <a:picLocks noChangeAspect="1"/>
          </p:cNvPicPr>
          <p:nvPr/>
        </p:nvPicPr>
        <p:blipFill>
          <a:blip r:embed="rId2"/>
          <a:stretch>
            <a:fillRect/>
          </a:stretch>
        </p:blipFill>
        <p:spPr>
          <a:xfrm>
            <a:off x="176656" y="1338762"/>
            <a:ext cx="8808720" cy="4512575"/>
          </a:xfrm>
          <a:prstGeom prst="rect">
            <a:avLst/>
          </a:prstGeom>
        </p:spPr>
      </p:pic>
    </p:spTree>
    <p:extLst>
      <p:ext uri="{BB962C8B-B14F-4D97-AF65-F5344CB8AC3E}">
        <p14:creationId xmlns:p14="http://schemas.microsoft.com/office/powerpoint/2010/main" val="1425271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33340-E9E7-3CDB-1571-6EFC904DE410}"/>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FDB4698B-6371-29A9-BB4C-BC9ADEC33D92}"/>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Create New Exam </a:t>
            </a:r>
          </a:p>
        </p:txBody>
      </p:sp>
      <p:pic>
        <p:nvPicPr>
          <p:cNvPr id="4" name="Picture 3" descr="A screenshot of a computer screen&#10;&#10;AI-generated content may be incorrect.">
            <a:extLst>
              <a:ext uri="{FF2B5EF4-FFF2-40B4-BE49-F238E27FC236}">
                <a16:creationId xmlns:a16="http://schemas.microsoft.com/office/drawing/2014/main" id="{C3AC1450-D678-AE02-8251-65C26FC33807}"/>
              </a:ext>
            </a:extLst>
          </p:cNvPr>
          <p:cNvPicPr>
            <a:picLocks noChangeAspect="1"/>
          </p:cNvPicPr>
          <p:nvPr/>
        </p:nvPicPr>
        <p:blipFill>
          <a:blip r:embed="rId2"/>
          <a:stretch>
            <a:fillRect/>
          </a:stretch>
        </p:blipFill>
        <p:spPr>
          <a:xfrm>
            <a:off x="1757679" y="914400"/>
            <a:ext cx="6180471" cy="5385575"/>
          </a:xfrm>
          <a:prstGeom prst="rect">
            <a:avLst/>
          </a:prstGeom>
        </p:spPr>
      </p:pic>
    </p:spTree>
    <p:extLst>
      <p:ext uri="{BB962C8B-B14F-4D97-AF65-F5344CB8AC3E}">
        <p14:creationId xmlns:p14="http://schemas.microsoft.com/office/powerpoint/2010/main" val="2411896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3DA18-E497-5169-64E1-9EA28ECD3BBC}"/>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29E19283-7B46-0912-6A24-FB0C27C1F9BF}"/>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Upload and format</a:t>
            </a:r>
          </a:p>
        </p:txBody>
      </p:sp>
      <p:pic>
        <p:nvPicPr>
          <p:cNvPr id="3" name="Picture 2" descr="A screenshot of a computer&#10;&#10;AI-generated content may be incorrect.">
            <a:extLst>
              <a:ext uri="{FF2B5EF4-FFF2-40B4-BE49-F238E27FC236}">
                <a16:creationId xmlns:a16="http://schemas.microsoft.com/office/drawing/2014/main" id="{A5A523C7-B0B6-371D-AFBE-0A8F0629E20D}"/>
              </a:ext>
            </a:extLst>
          </p:cNvPr>
          <p:cNvPicPr>
            <a:picLocks noChangeAspect="1"/>
          </p:cNvPicPr>
          <p:nvPr/>
        </p:nvPicPr>
        <p:blipFill>
          <a:blip r:embed="rId2"/>
          <a:stretch>
            <a:fillRect/>
          </a:stretch>
        </p:blipFill>
        <p:spPr>
          <a:xfrm>
            <a:off x="152400" y="1627473"/>
            <a:ext cx="8402320" cy="3603053"/>
          </a:xfrm>
          <a:prstGeom prst="rect">
            <a:avLst/>
          </a:prstGeom>
        </p:spPr>
      </p:pic>
    </p:spTree>
    <p:extLst>
      <p:ext uri="{BB962C8B-B14F-4D97-AF65-F5344CB8AC3E}">
        <p14:creationId xmlns:p14="http://schemas.microsoft.com/office/powerpoint/2010/main" val="2250751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66E66-7EB6-9FC1-BDBA-B6F0BEA13E91}"/>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109623C0-2069-86F8-708B-6694E5B13B01}"/>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Student Result</a:t>
            </a:r>
          </a:p>
        </p:txBody>
      </p:sp>
      <p:pic>
        <p:nvPicPr>
          <p:cNvPr id="4" name="Picture 3" descr="A screenshot of a computer&#10;&#10;AI-generated content may be incorrect.">
            <a:extLst>
              <a:ext uri="{FF2B5EF4-FFF2-40B4-BE49-F238E27FC236}">
                <a16:creationId xmlns:a16="http://schemas.microsoft.com/office/drawing/2014/main" id="{818E90A3-07F4-B397-B9FA-AD4BC2191C9A}"/>
              </a:ext>
            </a:extLst>
          </p:cNvPr>
          <p:cNvPicPr>
            <a:picLocks noChangeAspect="1"/>
          </p:cNvPicPr>
          <p:nvPr/>
        </p:nvPicPr>
        <p:blipFill>
          <a:blip r:embed="rId2"/>
          <a:stretch>
            <a:fillRect/>
          </a:stretch>
        </p:blipFill>
        <p:spPr>
          <a:xfrm>
            <a:off x="327660" y="2104108"/>
            <a:ext cx="8488680" cy="2494765"/>
          </a:xfrm>
          <a:prstGeom prst="rect">
            <a:avLst/>
          </a:prstGeom>
        </p:spPr>
      </p:pic>
    </p:spTree>
    <p:extLst>
      <p:ext uri="{BB962C8B-B14F-4D97-AF65-F5344CB8AC3E}">
        <p14:creationId xmlns:p14="http://schemas.microsoft.com/office/powerpoint/2010/main" val="2571000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0D86A-768C-0176-861C-92B51EE5CF06}"/>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F5896338-8ECA-358A-2E15-B94912F2F118}"/>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Student Logs</a:t>
            </a:r>
          </a:p>
        </p:txBody>
      </p:sp>
      <p:pic>
        <p:nvPicPr>
          <p:cNvPr id="6" name="Picture 5" descr="A screenshot of a computer&#10;&#10;AI-generated content may be incorrect.">
            <a:extLst>
              <a:ext uri="{FF2B5EF4-FFF2-40B4-BE49-F238E27FC236}">
                <a16:creationId xmlns:a16="http://schemas.microsoft.com/office/drawing/2014/main" id="{705F544D-26C5-05B8-9BD2-1F79B107E791}"/>
              </a:ext>
            </a:extLst>
          </p:cNvPr>
          <p:cNvPicPr>
            <a:picLocks noChangeAspect="1"/>
          </p:cNvPicPr>
          <p:nvPr/>
        </p:nvPicPr>
        <p:blipFill>
          <a:blip r:embed="rId2"/>
          <a:stretch>
            <a:fillRect/>
          </a:stretch>
        </p:blipFill>
        <p:spPr>
          <a:xfrm>
            <a:off x="510540" y="952918"/>
            <a:ext cx="8316118" cy="5244682"/>
          </a:xfrm>
          <a:prstGeom prst="rect">
            <a:avLst/>
          </a:prstGeom>
        </p:spPr>
      </p:pic>
    </p:spTree>
    <p:extLst>
      <p:ext uri="{BB962C8B-B14F-4D97-AF65-F5344CB8AC3E}">
        <p14:creationId xmlns:p14="http://schemas.microsoft.com/office/powerpoint/2010/main" val="3632365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7FE93-0943-BB13-7A00-4CB1711417C8}"/>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80E70C31-A5BB-9F18-FD50-4AE426A4DFBC}"/>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Student Dashboard</a:t>
            </a:r>
          </a:p>
        </p:txBody>
      </p:sp>
      <p:pic>
        <p:nvPicPr>
          <p:cNvPr id="3" name="Picture 2" descr="A screenshot of a computer&#10;&#10;AI-generated content may be incorrect.">
            <a:extLst>
              <a:ext uri="{FF2B5EF4-FFF2-40B4-BE49-F238E27FC236}">
                <a16:creationId xmlns:a16="http://schemas.microsoft.com/office/drawing/2014/main" id="{37771A40-AD80-58BF-6010-77679412097A}"/>
              </a:ext>
            </a:extLst>
          </p:cNvPr>
          <p:cNvPicPr>
            <a:picLocks noChangeAspect="1"/>
          </p:cNvPicPr>
          <p:nvPr/>
        </p:nvPicPr>
        <p:blipFill>
          <a:blip r:embed="rId2"/>
          <a:stretch>
            <a:fillRect/>
          </a:stretch>
        </p:blipFill>
        <p:spPr>
          <a:xfrm>
            <a:off x="179292" y="1146351"/>
            <a:ext cx="8785415" cy="4565298"/>
          </a:xfrm>
          <a:prstGeom prst="rect">
            <a:avLst/>
          </a:prstGeom>
        </p:spPr>
      </p:pic>
    </p:spTree>
    <p:extLst>
      <p:ext uri="{BB962C8B-B14F-4D97-AF65-F5344CB8AC3E}">
        <p14:creationId xmlns:p14="http://schemas.microsoft.com/office/powerpoint/2010/main" val="2635413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94496-FFD6-E98C-1B3E-5C0FF03F5918}"/>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8CD9E454-36B5-431D-7DCF-4B02ACF07C24}"/>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Exam view</a:t>
            </a:r>
          </a:p>
        </p:txBody>
      </p:sp>
      <p:pic>
        <p:nvPicPr>
          <p:cNvPr id="3" name="Picture 2">
            <a:extLst>
              <a:ext uri="{FF2B5EF4-FFF2-40B4-BE49-F238E27FC236}">
                <a16:creationId xmlns:a16="http://schemas.microsoft.com/office/drawing/2014/main" id="{41D845E6-FC75-1BA2-BB34-988E30929C13}"/>
              </a:ext>
            </a:extLst>
          </p:cNvPr>
          <p:cNvPicPr>
            <a:picLocks noChangeAspect="1"/>
          </p:cNvPicPr>
          <p:nvPr/>
        </p:nvPicPr>
        <p:blipFill>
          <a:blip r:embed="rId2"/>
          <a:stretch>
            <a:fillRect/>
          </a:stretch>
        </p:blipFill>
        <p:spPr>
          <a:xfrm>
            <a:off x="149290" y="1297625"/>
            <a:ext cx="8845420" cy="4466544"/>
          </a:xfrm>
          <a:prstGeom prst="rect">
            <a:avLst/>
          </a:prstGeom>
        </p:spPr>
      </p:pic>
    </p:spTree>
    <p:extLst>
      <p:ext uri="{BB962C8B-B14F-4D97-AF65-F5344CB8AC3E}">
        <p14:creationId xmlns:p14="http://schemas.microsoft.com/office/powerpoint/2010/main" val="1730086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03503-BCB6-D943-6DC8-74556F8103F6}"/>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255399CD-1DB3-888D-2FAB-8B088AFB285F}"/>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Database view</a:t>
            </a:r>
          </a:p>
        </p:txBody>
      </p:sp>
      <p:pic>
        <p:nvPicPr>
          <p:cNvPr id="6" name="Picture 5" descr="A screenshot of a computer&#10;&#10;AI-generated content may be incorrect.">
            <a:extLst>
              <a:ext uri="{FF2B5EF4-FFF2-40B4-BE49-F238E27FC236}">
                <a16:creationId xmlns:a16="http://schemas.microsoft.com/office/drawing/2014/main" id="{A8EFBE53-F8B3-F51A-3478-55B352177738}"/>
              </a:ext>
            </a:extLst>
          </p:cNvPr>
          <p:cNvPicPr>
            <a:picLocks noChangeAspect="1"/>
          </p:cNvPicPr>
          <p:nvPr/>
        </p:nvPicPr>
        <p:blipFill>
          <a:blip r:embed="rId2"/>
          <a:stretch>
            <a:fillRect/>
          </a:stretch>
        </p:blipFill>
        <p:spPr>
          <a:xfrm>
            <a:off x="701040" y="888387"/>
            <a:ext cx="7620000" cy="1457290"/>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50DA247C-CE67-BB89-EF9E-977CE7794C28}"/>
              </a:ext>
            </a:extLst>
          </p:cNvPr>
          <p:cNvPicPr>
            <a:picLocks noChangeAspect="1"/>
          </p:cNvPicPr>
          <p:nvPr/>
        </p:nvPicPr>
        <p:blipFill>
          <a:blip r:embed="rId3"/>
          <a:stretch>
            <a:fillRect/>
          </a:stretch>
        </p:blipFill>
        <p:spPr>
          <a:xfrm>
            <a:off x="716280" y="2479971"/>
            <a:ext cx="7604760" cy="1600184"/>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EAF6A66E-F814-114E-5368-1693CE664179}"/>
              </a:ext>
            </a:extLst>
          </p:cNvPr>
          <p:cNvPicPr>
            <a:picLocks noChangeAspect="1"/>
          </p:cNvPicPr>
          <p:nvPr/>
        </p:nvPicPr>
        <p:blipFill>
          <a:blip r:embed="rId4"/>
          <a:stretch>
            <a:fillRect/>
          </a:stretch>
        </p:blipFill>
        <p:spPr>
          <a:xfrm>
            <a:off x="716280" y="4214449"/>
            <a:ext cx="7604760" cy="2216831"/>
          </a:xfrm>
          <a:prstGeom prst="rect">
            <a:avLst/>
          </a:prstGeom>
        </p:spPr>
      </p:pic>
    </p:spTree>
    <p:extLst>
      <p:ext uri="{BB962C8B-B14F-4D97-AF65-F5344CB8AC3E}">
        <p14:creationId xmlns:p14="http://schemas.microsoft.com/office/powerpoint/2010/main" val="3987465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10. Conclusion &amp; Way Forward</a:t>
            </a:r>
          </a:p>
        </p:txBody>
      </p:sp>
      <p:sp>
        <p:nvSpPr>
          <p:cNvPr id="7" name="TextBox 6">
            <a:extLst>
              <a:ext uri="{FF2B5EF4-FFF2-40B4-BE49-F238E27FC236}">
                <a16:creationId xmlns:a16="http://schemas.microsoft.com/office/drawing/2014/main" id="{049C9723-75EA-436A-8D1F-AD335E798A03}"/>
              </a:ext>
            </a:extLst>
          </p:cNvPr>
          <p:cNvSpPr txBox="1"/>
          <p:nvPr/>
        </p:nvSpPr>
        <p:spPr>
          <a:xfrm>
            <a:off x="415650" y="1266559"/>
            <a:ext cx="8907912" cy="480131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Conclusion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 smart online exam proctoring system was successfully developed</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monitors students using webcam and browser activity</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Face verification and real-time monitoring were implemented</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Automatic warnings and exam submission were added</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helps reduce cheating in online exams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Long-Term Outcome</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Can be used by colleges and universities for online exams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Helps conduct secure and fair online examinations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Reduces need for human invigilators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Can be enhanced using advanced AI techniques in future</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Deployed link: </a:t>
            </a:r>
            <a:r>
              <a:rPr lang="en-US" sz="1800" dirty="0">
                <a:latin typeface="Times New Roman" panose="02020603050405020304" pitchFamily="18" charset="0"/>
                <a:cs typeface="Times New Roman" panose="02020603050405020304" pitchFamily="18" charset="0"/>
                <a:hlinkClick r:id="rId2"/>
              </a:rPr>
              <a:t>https://smartonlineexammonitaringsystem-production.up.railway.app/</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6767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4E45E-3F12-F2DA-AC3D-B5EDF8C86391}"/>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C88651BB-4B99-B43A-095C-010F3AFFF9A8}"/>
              </a:ext>
            </a:extLst>
          </p:cNvPr>
          <p:cNvSpPr/>
          <p:nvPr/>
        </p:nvSpPr>
        <p:spPr>
          <a:xfrm>
            <a:off x="1" y="1"/>
            <a:ext cx="9144000" cy="8201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200" dirty="0"/>
              <a:t>References</a:t>
            </a:r>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FD2F461-4064-5951-0A9B-980238999DF1}"/>
              </a:ext>
            </a:extLst>
          </p:cNvPr>
          <p:cNvSpPr txBox="1"/>
          <p:nvPr/>
        </p:nvSpPr>
        <p:spPr>
          <a:xfrm>
            <a:off x="179562" y="1201244"/>
            <a:ext cx="8964438" cy="5539978"/>
          </a:xfrm>
          <a:prstGeom prst="rect">
            <a:avLst/>
          </a:prstGeom>
          <a:noFill/>
        </p:spPr>
        <p:txBody>
          <a:bodyPr wrap="square">
            <a:spAutoFit/>
          </a:bodyPr>
          <a:lstStyle/>
          <a:p>
            <a:r>
              <a:rPr lang="en-IN" sz="2400" dirty="0"/>
              <a:t>1. Flask Documentation – Official Flask Web Framework Documentation </a:t>
            </a:r>
          </a:p>
          <a:p>
            <a:r>
              <a:rPr lang="en-IN" sz="2400" dirty="0"/>
              <a:t>source : </a:t>
            </a:r>
            <a:r>
              <a:rPr lang="en-IN" sz="2400" dirty="0">
                <a:hlinkClick r:id="rId2"/>
              </a:rPr>
              <a:t>https://flask.palletsprojects.com/</a:t>
            </a:r>
            <a:endParaRPr lang="en-IN" sz="2400" dirty="0"/>
          </a:p>
          <a:p>
            <a:pPr marL="457200" indent="-457200">
              <a:buAutoNum type="arabicPeriod"/>
            </a:pPr>
            <a:endParaRPr lang="en-IN" sz="2400" dirty="0"/>
          </a:p>
          <a:p>
            <a:r>
              <a:rPr lang="en-IN" sz="2400" dirty="0"/>
              <a:t>2. </a:t>
            </a:r>
            <a:r>
              <a:rPr lang="en-IN" sz="2400" dirty="0" err="1"/>
              <a:t>MediaPipe</a:t>
            </a:r>
            <a:r>
              <a:rPr lang="en-IN" sz="2400" dirty="0"/>
              <a:t> Documentation – Google </a:t>
            </a:r>
            <a:r>
              <a:rPr lang="en-IN" sz="2400" dirty="0" err="1"/>
              <a:t>MediaPipe</a:t>
            </a:r>
            <a:r>
              <a:rPr lang="en-IN" sz="2400" dirty="0"/>
              <a:t> Framework source : </a:t>
            </a:r>
            <a:r>
              <a:rPr lang="en-IN" sz="2400" dirty="0">
                <a:hlinkClick r:id="rId3"/>
              </a:rPr>
              <a:t>https://developers.google.com/mediapipe /</a:t>
            </a:r>
            <a:endParaRPr lang="en-IN" sz="2400" dirty="0"/>
          </a:p>
          <a:p>
            <a:r>
              <a:rPr lang="en-IN" sz="2400" dirty="0"/>
              <a:t> </a:t>
            </a:r>
          </a:p>
          <a:p>
            <a:r>
              <a:rPr lang="en-IN" sz="2400" dirty="0"/>
              <a:t>3. SQLite Documentation – SQLite Database Engine </a:t>
            </a:r>
          </a:p>
          <a:p>
            <a:r>
              <a:rPr lang="en-IN" sz="2400" dirty="0"/>
              <a:t>source : </a:t>
            </a:r>
            <a:r>
              <a:rPr lang="en-IN" sz="2400" dirty="0">
                <a:hlinkClick r:id="rId4"/>
              </a:rPr>
              <a:t>https://www.sqlite.org/docs.html/</a:t>
            </a:r>
            <a:endParaRPr lang="en-IN" sz="2400" dirty="0"/>
          </a:p>
          <a:p>
            <a:endParaRPr lang="en-IN" sz="2400" dirty="0"/>
          </a:p>
          <a:p>
            <a:r>
              <a:rPr lang="en-IN" sz="2400" dirty="0"/>
              <a:t>4. Python Official Documentation </a:t>
            </a:r>
          </a:p>
          <a:p>
            <a:r>
              <a:rPr lang="en-IN" sz="2400" dirty="0"/>
              <a:t>source : </a:t>
            </a:r>
            <a:r>
              <a:rPr lang="en-IN" sz="2400" dirty="0">
                <a:hlinkClick r:id="rId5"/>
              </a:rPr>
              <a:t>https://docs.python.org/3/ </a:t>
            </a:r>
            <a:endParaRPr lang="en-IN" sz="2400" dirty="0"/>
          </a:p>
          <a:p>
            <a:endParaRPr lang="en-IN" sz="2400" dirty="0"/>
          </a:p>
          <a:p>
            <a:endParaRPr lang="en-IN" sz="2400" dirty="0"/>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91471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4BACC6"/>
        </a:solidFill>
        <a:effectLst/>
      </p:bgPr>
    </p:bg>
    <p:spTree>
      <p:nvGrpSpPr>
        <p:cNvPr id="1" name=""/>
        <p:cNvGrpSpPr/>
        <p:nvPr/>
      </p:nvGrpSpPr>
      <p:grpSpPr>
        <a:xfrm>
          <a:off x="0" y="0"/>
          <a:ext cx="0" cy="0"/>
          <a:chOff x="0" y="0"/>
          <a:chExt cx="0" cy="0"/>
        </a:xfrm>
      </p:grpSpPr>
      <p:sp>
        <p:nvSpPr>
          <p:cNvPr id="4" name="Rectangle 3"/>
          <p:cNvSpPr/>
          <p:nvPr/>
        </p:nvSpPr>
        <p:spPr>
          <a:xfrm>
            <a:off x="1227841" y="1673928"/>
            <a:ext cx="6688318" cy="3416320"/>
          </a:xfrm>
          <a:prstGeom prst="rect">
            <a:avLst/>
          </a:prstGeom>
        </p:spPr>
        <p:txBody>
          <a:bodyPr wrap="square">
            <a:spAutoFit/>
          </a:bodyPr>
          <a:lstStyle/>
          <a:p>
            <a:pPr algn="ctr"/>
            <a:r>
              <a:rPr lang="en-IN" sz="7200" b="1" dirty="0">
                <a:solidFill>
                  <a:schemeClr val="bg1"/>
                </a:solidFill>
                <a:latin typeface="Bell MT" panose="02020503060305020303" pitchFamily="18" charset="0"/>
              </a:rPr>
              <a:t>Thank you</a:t>
            </a:r>
          </a:p>
          <a:p>
            <a:pPr algn="ctr"/>
            <a:endParaRPr lang="en-IN" sz="7200" b="1" dirty="0">
              <a:solidFill>
                <a:schemeClr val="bg1"/>
              </a:solidFill>
              <a:latin typeface="Bell MT" panose="02020503060305020303" pitchFamily="18" charset="0"/>
            </a:endParaRPr>
          </a:p>
          <a:p>
            <a:pPr algn="ctr"/>
            <a:r>
              <a:rPr lang="en-IN" sz="7200" b="1" dirty="0">
                <a:solidFill>
                  <a:schemeClr val="bg1"/>
                </a:solidFill>
                <a:latin typeface="Bell MT" panose="02020503060305020303" pitchFamily="18" charset="0"/>
              </a:rPr>
              <a:t>Any Question ?</a:t>
            </a:r>
          </a:p>
        </p:txBody>
      </p:sp>
    </p:spTree>
    <p:extLst>
      <p:ext uri="{BB962C8B-B14F-4D97-AF65-F5344CB8AC3E}">
        <p14:creationId xmlns:p14="http://schemas.microsoft.com/office/powerpoint/2010/main" val="13306981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Project-1)SEM-5</Template>
  <TotalTime>3488</TotalTime>
  <Words>1231</Words>
  <Application>Microsoft Office PowerPoint</Application>
  <PresentationFormat>On-screen Show (4:3)</PresentationFormat>
  <Paragraphs>232</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Bell MT</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vatsal parmar</dc:creator>
  <cp:lastModifiedBy>Nilay Dhruv</cp:lastModifiedBy>
  <cp:revision>180</cp:revision>
  <cp:lastPrinted>2025-07-11T04:48:06Z</cp:lastPrinted>
  <dcterms:created xsi:type="dcterms:W3CDTF">2023-01-27T05:49:28Z</dcterms:created>
  <dcterms:modified xsi:type="dcterms:W3CDTF">2026-02-10T06:11:32Z</dcterms:modified>
</cp:coreProperties>
</file>